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2259cf8ad84535" /><Relationship Type="http://schemas.openxmlformats.org/officeDocument/2006/relationships/extended-properties" Target="/docProps/app.xml" Id="R4134aeab325c44b2" /><Relationship Type="http://schemas.openxmlformats.org/officeDocument/2006/relationships/officeDocument" Target="/ppt/presentation.xml" Id="Rb39607bbd3534fd2" /></Relationships>
</file>

<file path=ppt/presentation.xml><?xml version="1.0" encoding="utf-8"?>
<p:presentation xmlns:p="http://schemas.openxmlformats.org/presentationml/2006/main">
  <p:sldMasterIdLst>
    <p:sldMasterId xmlns:r="http://schemas.openxmlformats.org/officeDocument/2006/relationships" id="2147483648" r:id="R500bcbdb9c6e4ed6"/>
    <p:sldMasterId xmlns:r="http://schemas.openxmlformats.org/officeDocument/2006/relationships" id="2147483650" r:id="Re55b721729904487"/>
  </p:sldMasterIdLst>
  <p:notesMasterIdLst>
    <p:notesMasterId xmlns:r="http://schemas.openxmlformats.org/officeDocument/2006/relationships" r:id="R70690d89b61740b0"/>
  </p:notesMasterIdLst>
  <p:sldIdLst>
    <p:sldId xmlns:r="http://schemas.openxmlformats.org/officeDocument/2006/relationships" id="256" r:id="R05a313660d774a34"/>
    <p:sldId xmlns:r="http://schemas.openxmlformats.org/officeDocument/2006/relationships" id="257" r:id="R3087754680f74261"/>
    <p:sldId xmlns:r="http://schemas.openxmlformats.org/officeDocument/2006/relationships" id="258" r:id="R62f9d7c8105b4592"/>
    <p:sldId xmlns:r="http://schemas.openxmlformats.org/officeDocument/2006/relationships" id="259" r:id="Rabbb707336074602"/>
    <p:sldId xmlns:r="http://schemas.openxmlformats.org/officeDocument/2006/relationships" id="260" r:id="R307a3c5e369d419c"/>
    <p:sldId xmlns:r="http://schemas.openxmlformats.org/officeDocument/2006/relationships" id="261" r:id="Rc5d5e644a6414e1b"/>
    <p:sldId xmlns:r="http://schemas.openxmlformats.org/officeDocument/2006/relationships" id="262" r:id="R3d30a40c4740430b"/>
    <p:sldId xmlns:r="http://schemas.openxmlformats.org/officeDocument/2006/relationships" id="263" r:id="R272c01938a0e46de"/>
    <p:sldId xmlns:r="http://schemas.openxmlformats.org/officeDocument/2006/relationships" id="264" r:id="R05600517bb6b4e09"/>
    <p:sldId xmlns:r="http://schemas.openxmlformats.org/officeDocument/2006/relationships" id="265" r:id="Rb74a10aed61345b7"/>
    <p:sldId xmlns:r="http://schemas.openxmlformats.org/officeDocument/2006/relationships" id="266" r:id="Rdf46dd522ec540ec"/>
    <p:sldId xmlns:r="http://schemas.openxmlformats.org/officeDocument/2006/relationships" id="267" r:id="Rff562c2d3b6c43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3dcfce52fe4922" /><Relationship Type="http://schemas.openxmlformats.org/officeDocument/2006/relationships/slideMaster" Target="/ppt/slideMasters/slideMaster1.xml" Id="R500bcbdb9c6e4ed6" /><Relationship Type="http://schemas.openxmlformats.org/officeDocument/2006/relationships/slideMaster" Target="/ppt/slideMasters/slideMaster2.xml" Id="Re55b721729904487" /><Relationship Type="http://schemas.openxmlformats.org/officeDocument/2006/relationships/notesMaster" Target="/ppt/notesMasters/notesMaster1.xml" Id="R70690d89b61740b0" /><Relationship Type="http://schemas.openxmlformats.org/officeDocument/2006/relationships/presProps" Target="/ppt/presProps.xml" Id="R21dce2dc3b4343b7" /><Relationship Type="http://schemas.openxmlformats.org/officeDocument/2006/relationships/tableStyles" Target="/ppt/tableStyles.xml" Id="R88c82f71f5a44d24" /><Relationship Type="http://schemas.openxmlformats.org/officeDocument/2006/relationships/slide" Target="/ppt/slides/slide1.xml" Id="R05a313660d774a34" /><Relationship Type="http://schemas.openxmlformats.org/officeDocument/2006/relationships/slide" Target="/ppt/slides/slide2.xml" Id="R3087754680f74261" /><Relationship Type="http://schemas.openxmlformats.org/officeDocument/2006/relationships/slide" Target="/ppt/slides/slide3.xml" Id="R62f9d7c8105b4592" /><Relationship Type="http://schemas.openxmlformats.org/officeDocument/2006/relationships/slide" Target="/ppt/slides/slide4.xml" Id="Rabbb707336074602" /><Relationship Type="http://schemas.openxmlformats.org/officeDocument/2006/relationships/slide" Target="/ppt/slides/slide5.xml" Id="R307a3c5e369d419c" /><Relationship Type="http://schemas.openxmlformats.org/officeDocument/2006/relationships/slide" Target="/ppt/slides/slide6.xml" Id="Rc5d5e644a6414e1b" /><Relationship Type="http://schemas.openxmlformats.org/officeDocument/2006/relationships/slide" Target="/ppt/slides/slide7.xml" Id="R3d30a40c4740430b" /><Relationship Type="http://schemas.openxmlformats.org/officeDocument/2006/relationships/slide" Target="/ppt/slides/slide8.xml" Id="R272c01938a0e46de" /><Relationship Type="http://schemas.openxmlformats.org/officeDocument/2006/relationships/slide" Target="/ppt/slides/slide9.xml" Id="R05600517bb6b4e09" /><Relationship Type="http://schemas.openxmlformats.org/officeDocument/2006/relationships/slide" Target="/ppt/slides/slide10.xml" Id="Rb74a10aed61345b7" /><Relationship Type="http://schemas.openxmlformats.org/officeDocument/2006/relationships/slide" Target="/ppt/slides/slide11.xml" Id="Rdf46dd522ec540ec" /><Relationship Type="http://schemas.openxmlformats.org/officeDocument/2006/relationships/slide" Target="/ppt/slides/slide12.xml" Id="Rff562c2d3b6c43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b31d2ba9fa54a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ca7a1723b74538" /><Relationship Type="http://schemas.openxmlformats.org/officeDocument/2006/relationships/notesMaster" Target="/ppt/notesMasters/notesMaster1.xml" Id="R359a9b91266744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1055d935dd479e" /><Relationship Type="http://schemas.openxmlformats.org/officeDocument/2006/relationships/notesMaster" Target="/ppt/notesMasters/notesMaster1.xml" Id="R0e3104b12d8049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644c31949d4288" /><Relationship Type="http://schemas.openxmlformats.org/officeDocument/2006/relationships/notesMaster" Target="/ppt/notesMasters/notesMaster1.xml" Id="R6029ead7e23a4c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dd13e9e28941f9" /><Relationship Type="http://schemas.openxmlformats.org/officeDocument/2006/relationships/notesMaster" Target="/ppt/notesMasters/notesMaster1.xml" Id="R07dde006f78542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068db3794e41ba" /><Relationship Type="http://schemas.openxmlformats.org/officeDocument/2006/relationships/notesMaster" Target="/ppt/notesMasters/notesMaster1.xml" Id="Raa6269ec890c4a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1a105e3fb54ad1" /><Relationship Type="http://schemas.openxmlformats.org/officeDocument/2006/relationships/notesMaster" Target="/ppt/notesMasters/notesMaster1.xml" Id="R8d7091ca06c34e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36f21076374034" /><Relationship Type="http://schemas.openxmlformats.org/officeDocument/2006/relationships/notesMaster" Target="/ppt/notesMasters/notesMaster1.xml" Id="Rd9c7d5c28d5249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5b8f89cabb403f" /><Relationship Type="http://schemas.openxmlformats.org/officeDocument/2006/relationships/notesMaster" Target="/ppt/notesMasters/notesMaster1.xml" Id="Ra4df83a41daf4e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84e6745b8a45e4" /><Relationship Type="http://schemas.openxmlformats.org/officeDocument/2006/relationships/notesMaster" Target="/ppt/notesMasters/notesMaster1.xml" Id="R94b33af8ff484b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b90a20fdd248a3" /><Relationship Type="http://schemas.openxmlformats.org/officeDocument/2006/relationships/notesMaster" Target="/ppt/notesMasters/notesMaster1.xml" Id="R0461f518585c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e43ddaba00440a" /><Relationship Type="http://schemas.openxmlformats.org/officeDocument/2006/relationships/notesMaster" Target="/ppt/notesMasters/notesMaster1.xml" Id="Rc9f7f7d28e3b43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c077329298463f" /><Relationship Type="http://schemas.openxmlformats.org/officeDocument/2006/relationships/notesMaster" Target="/ppt/notesMasters/notesMaster1.xml" Id="R32fa4c207cf64d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building Avanta, a concept for continuous software assurance.</a:t>
            </a:r>
          </a:p>
          <a:p xmlns:a="http://schemas.openxmlformats.org/drawingml/2006/main">
            <a:r>
              <a:t/>
            </a:r>
          </a:p>
          <a:p xmlns:a="http://schemas.openxmlformats.org/drawingml/2006/main">
            <a:r>
              <a:t>CORE EXPLANATION (about 25 seconds)</a:t>
            </a:r>
          </a:p>
          <a:p xmlns:a="http://schemas.openxmlformats.org/drawingml/2006/main">
            <a:r>
              <a:t>When a software change reaches review, teams need more than a suggested fix. Our proposed system gathers the relevant evidence and makes the human decision easier to inspect. We are a student-led team at APS JRC. Today we are in research, architecture design and model/workflow experimentation, with an integrated MVP still ahead.</a:t>
            </a:r>
          </a:p>
          <a:p xmlns:a="http://schemas.openxmlformats.org/drawingml/2006/main">
            <a:r>
              <a:t/>
            </a:r>
          </a:p>
          <a:p xmlns:a="http://schemas.openxmlformats.org/drawingml/2006/main">
            <a:r>
              <a:t>TRANSITION</a:t>
            </a:r>
          </a:p>
          <a:p xmlns:a="http://schemas.openxmlformats.org/drawingml/2006/main">
            <a:r>
              <a:t>The starting point is a gap between AI adoption and trust.</a:t>
            </a:r>
          </a:p>
          <a:p xmlns:a="http://schemas.openxmlformats.org/drawingml/2006/main">
            <a:r>
              <a:t/>
            </a:r>
          </a:p>
          <a:p xmlns:a="http://schemas.openxmlformats.org/drawingml/2006/main">
            <a:r>
              <a:t>PRESENTER CUES</a:t>
            </a:r>
          </a:p>
          <a:p xmlns:a="http://schemas.openxmlformats.org/drawingml/2006/main">
            <a:r>
              <a:t>2 clicks: trust statement, then team. Allow about 25 seconds.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AI adoption has grown faster than confidence in its output.</a:t>
            </a:r>
          </a:p>
          <a:p xmlns:a="http://schemas.openxmlformats.org/drawingml/2006/main">
            <a:r>
              <a:t/>
            </a:r>
          </a:p>
          <a:p xmlns:a="http://schemas.openxmlformats.org/drawingml/2006/main">
            <a:r>
              <a:t>CORE EXPLANATION (about 25 seconds)</a:t>
            </a:r>
          </a:p>
          <a:p xmlns:a="http://schemas.openxmlformats.org/drawingml/2006/main">
            <a:r>
              <a:t>Stack Overflow’s 2025 survey reports that 84% use or plan to use AI tools, while 46% distrust their accuracy. Another question found that 66% were frustrated by almost-right answers. These are self-reported survey figures, not a benchmark of security failures. Our opportunity is to bring evidence together at the review decision, especially for teams with limited security capacity.</a:t>
            </a:r>
          </a:p>
          <a:p xmlns:a="http://schemas.openxmlformats.org/drawingml/2006/main">
            <a:r>
              <a:t/>
            </a:r>
          </a:p>
          <a:p xmlns:a="http://schemas.openxmlformats.org/drawingml/2006/main">
            <a:r>
              <a:t>TRANSITION</a:t>
            </a:r>
          </a:p>
          <a:p xmlns:a="http://schemas.openxmlformats.org/drawingml/2006/main">
            <a:r>
              <a:t>Several tools already help, but their signals still need to meet.</a:t>
            </a:r>
          </a:p>
          <a:p xmlns:a="http://schemas.openxmlformats.org/drawingml/2006/main">
            <a:r>
              <a:t/>
            </a:r>
          </a:p>
          <a:p xmlns:a="http://schemas.openxmlformats.org/drawingml/2006/main">
            <a:r>
              <a:t>PRESENTER CUES</a:t>
            </a:r>
          </a:p>
          <a:p xmlns:a="http://schemas.openxmlformats.org/drawingml/2006/main">
            <a:r>
              <a:t>3 clicks: change flow, survey evidence, affected teams and opportunity. Percentages have different question populations and should not be added.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https://survey.stackoverflow.co/2025/ai</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Each category solves a useful part of the problem.</a:t>
            </a:r>
          </a:p>
          <a:p xmlns:a="http://schemas.openxmlformats.org/drawingml/2006/main">
            <a:r>
              <a:t/>
            </a:r>
          </a:p>
          <a:p xmlns:a="http://schemas.openxmlformats.org/drawingml/2006/main">
            <a:r>
              <a:t>CORE EXPLANATION (about 25 seconds)</a:t>
            </a:r>
          </a:p>
          <a:p xmlns:a="http://schemas.openxmlformats.org/drawingml/2006/main">
            <a:r>
              <a:t>Coding agents can generate changes and run tests. Scanners find vulnerable patterns, CI runs defined checks, and observability provides runtime signals. Their capabilities overlap, so our claim is a workflow gap rather than an absence of features. Avanta would bring these signals into one private evidence packet, tied to a specific software change and a human decision.</a:t>
            </a:r>
          </a:p>
          <a:p xmlns:a="http://schemas.openxmlformats.org/drawingml/2006/main">
            <a:r>
              <a:t/>
            </a:r>
          </a:p>
          <a:p xmlns:a="http://schemas.openxmlformats.org/drawingml/2006/main">
            <a:r>
              <a:t>TRANSITION</a:t>
            </a:r>
          </a:p>
          <a:p xmlns:a="http://schemas.openxmlformats.org/drawingml/2006/main">
            <a:r>
              <a:t>That gives us the six-stage loop we want to build.</a:t>
            </a:r>
          </a:p>
          <a:p xmlns:a="http://schemas.openxmlformats.org/drawingml/2006/main">
            <a:r>
              <a:t/>
            </a:r>
          </a:p>
          <a:p xmlns:a="http://schemas.openxmlformats.org/drawingml/2006/main">
            <a:r>
              <a:t>PRESENTER CUES</a:t>
            </a:r>
          </a:p>
          <a:p xmlns:a="http://schemas.openxmlformats.org/drawingml/2006/main">
            <a:r>
              <a:t>3 clicks: tool functions, contextual gaps, shared decision. Gaps are team interpretations of workflow needs, not universal product limitations.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https://docs.github.com/en/copilot/concepts/agents/cloud-agent/about-cloud-agent</a:t>
            </a:r>
          </a:p>
          <a:p xmlns:a="http://schemas.openxmlformats.org/drawingml/2006/main">
            <a:r>
              <a:t>https://docs.github.com/en/code-security/concepts/code-scanning/code-scanning</a:t>
            </a:r>
          </a:p>
          <a:p xmlns:a="http://schemas.openxmlformats.org/drawingml/2006/main">
            <a:r>
              <a:t>https://docs.github.com/en/actions/get-started/understand-github-actions</a:t>
            </a:r>
          </a:p>
          <a:p xmlns:a="http://schemas.openxmlformats.org/drawingml/2006/main">
            <a:r>
              <a:t>https://opentelemetry.io/docs/what-is-opentelemetry/</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Avanta would turn a pull request into an evidence-backed decision.</a:t>
            </a:r>
          </a:p>
          <a:p xmlns:a="http://schemas.openxmlformats.org/drawingml/2006/main">
            <a:r>
              <a:t/>
            </a:r>
          </a:p>
          <a:p xmlns:a="http://schemas.openxmlformats.org/drawingml/2006/main">
            <a:r>
              <a:t>CORE EXPLANATION (about 25 seconds)</a:t>
            </a:r>
          </a:p>
          <a:p xmlns:a="http://schemas.openxmlformats.org/drawingml/2006/main">
            <a:r>
              <a:t>We observe the change, assemble repository context, and use isolated execution where the risk requires it. Verification then runs the defined compiler, test and security checks. The evidence packet reaches a human for approval or rejection. Only validated evidence can update private project memory. The learning step must preserve provenance rather than accepting unverified model output.</a:t>
            </a:r>
          </a:p>
          <a:p xmlns:a="http://schemas.openxmlformats.org/drawingml/2006/main">
            <a:r>
              <a:t/>
            </a:r>
          </a:p>
          <a:p xmlns:a="http://schemas.openxmlformats.org/drawingml/2006/main">
            <a:r>
              <a:t>TRANSITION</a:t>
            </a:r>
          </a:p>
          <a:p xmlns:a="http://schemas.openxmlformats.org/drawingml/2006/main">
            <a:r>
              <a:t>The architecture separates what the model proposes from what the gates can verify.</a:t>
            </a:r>
          </a:p>
          <a:p xmlns:a="http://schemas.openxmlformats.org/drawingml/2006/main">
            <a:r>
              <a:t/>
            </a:r>
          </a:p>
          <a:p xmlns:a="http://schemas.openxmlformats.org/drawingml/2006/main">
            <a:r>
              <a:t>PRESENTER CUES</a:t>
            </a:r>
          </a:p>
          <a:p xmlns:a="http://schemas.openxmlformats.org/drawingml/2006/main">
            <a:r>
              <a:t>6 clicks, one per stage. The final beat adds the memory return line and user journey. This is a proposed workflow, not an operating product.</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Avanta separates reasoning from trust.</a:t>
            </a:r>
          </a:p>
          <a:p xmlns:a="http://schemas.openxmlformats.org/drawingml/2006/main">
            <a:r>
              <a:t/>
            </a:r>
          </a:p>
          <a:p xmlns:a="http://schemas.openxmlformats.org/drawingml/2006/main">
            <a:r>
              <a:t>CORE EXPLANATION (about 25 seconds)</a:t>
            </a:r>
          </a:p>
          <a:p xmlns:a="http://schemas.openxmlformats.org/drawingml/2006/main">
            <a:r>
              <a:t>The context layer would collect repository structure, dependencies, findings and project history into a structured packet. Rudra would interpret that packet and propose a minimal action. The proposal must then pass defined verification gates before a human evaluates the evidence. Passing those checks only establishes the properties tested. It cannot prove that every possible security issue is absent.</a:t>
            </a:r>
          </a:p>
          <a:p xmlns:a="http://schemas.openxmlformats.org/drawingml/2006/main">
            <a:r>
              <a:t/>
            </a:r>
          </a:p>
          <a:p xmlns:a="http://schemas.openxmlformats.org/drawingml/2006/main">
            <a:r>
              <a:t>TRANSITION</a:t>
            </a:r>
          </a:p>
          <a:p xmlns:a="http://schemas.openxmlformats.org/drawingml/2006/main">
            <a:r>
              <a:t>This is the design we are preparing. Here is where development stands.</a:t>
            </a:r>
          </a:p>
          <a:p xmlns:a="http://schemas.openxmlformats.org/drawingml/2006/main">
            <a:r>
              <a:t/>
            </a:r>
          </a:p>
          <a:p xmlns:a="http://schemas.openxmlformats.org/drawingml/2006/main">
            <a:r>
              <a:t>PRESENTER CUES</a:t>
            </a:r>
          </a:p>
          <a:p xmlns:a="http://schemas.openxmlformats.org/drawingml/2006/main">
            <a:r>
              <a:t>6 clicks: source, context, Rudra, candidate action, verification, evidence and human gate. Gate labels are architectural symbols, not measured test successes.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currently in research and development.</a:t>
            </a:r>
          </a:p>
          <a:p xmlns:a="http://schemas.openxmlformats.org/drawingml/2006/main">
            <a:r>
              <a:t/>
            </a:r>
          </a:p>
          <a:p xmlns:a="http://schemas.openxmlformats.org/drawingml/2006/main">
            <a:r>
              <a:t>CORE EXPLANATION (about 25 seconds)</a:t>
            </a:r>
          </a:p>
          <a:p xmlns:a="http://schemas.openxmlformats.org/drawingml/2006/main">
            <a:r>
              <a:t>We have defined the problem and the high-level assurance concept. Detailed architecture, context-packet design, model evaluation and fine-tuning experimentation are in progress. We are also planning the integrations. The next milestone is one end-to-end MVP on a safe public or synthetic repository with a controlled vulnerability. A pilot comes later, after that workflow produces evidence we can inspect.</a:t>
            </a:r>
          </a:p>
          <a:p xmlns:a="http://schemas.openxmlformats.org/drawingml/2006/main">
            <a:r>
              <a:t/>
            </a:r>
          </a:p>
          <a:p xmlns:a="http://schemas.openxmlformats.org/drawingml/2006/main">
            <a:r>
              <a:t>TRANSITION</a:t>
            </a:r>
          </a:p>
          <a:p xmlns:a="http://schemas.openxmlformats.org/drawingml/2006/main">
            <a:r>
              <a:t>The first users should have a clear need for that narrow workflow.</a:t>
            </a:r>
          </a:p>
          <a:p xmlns:a="http://schemas.openxmlformats.org/drawingml/2006/main">
            <a:r>
              <a:t/>
            </a:r>
          </a:p>
          <a:p xmlns:a="http://schemas.openxmlformats.org/drawingml/2006/main">
            <a:r>
              <a:t>PRESENTER CUES</a:t>
            </a:r>
          </a:p>
          <a:p xmlns:a="http://schemas.openxmlformats.org/drawingml/2006/main">
            <a:r>
              <a:t>4 clicks: concept and architecture, experimentation, future milestones, planned validation. Research completed means initial problem and concept research, not that all research has ended. The MVP and validation outcome remain planned.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propose starting with software teams of roughly ten to two hundred engineers.</a:t>
            </a:r>
          </a:p>
          <a:p xmlns:a="http://schemas.openxmlformats.org/drawingml/2006/main">
            <a:r>
              <a:t/>
            </a:r>
          </a:p>
          <a:p xmlns:a="http://schemas.openxmlformats.org/drawingml/2006/main">
            <a:r>
              <a:t>CORE EXPLANATION (about 25 seconds)</a:t>
            </a:r>
          </a:p>
          <a:p xmlns:a="http://schemas.openxmlformats.org/drawingml/2006/main">
            <a:r>
              <a:t>That is a target hypothesis, not a customer count. The qualifying signals are frequent releases, AI-assisted development and limited dedicated AppSec capacity. The daily user might be a senior developer or engineering lead, while a CTO could evaluate the purchase. We would begin with PR assurance and evidence aggregation, then test whether the same context helps upgrades and release reviews.</a:t>
            </a:r>
          </a:p>
          <a:p xmlns:a="http://schemas.openxmlformats.org/drawingml/2006/main">
            <a:r>
              <a:t/>
            </a:r>
          </a:p>
          <a:p xmlns:a="http://schemas.openxmlformats.org/drawingml/2006/main">
            <a:r>
              <a:t>TRANSITION</a:t>
            </a:r>
          </a:p>
          <a:p xmlns:a="http://schemas.openxmlformats.org/drawingml/2006/main">
            <a:r>
              <a:t>We would measure value before making claims about impact.</a:t>
            </a:r>
          </a:p>
          <a:p xmlns:a="http://schemas.openxmlformats.org/drawingml/2006/main">
            <a:r>
              <a:t/>
            </a:r>
          </a:p>
          <a:p xmlns:a="http://schemas.openxmlformats.org/drawingml/2006/main">
            <a:r>
              <a:t>PRESENTER CUES</a:t>
            </a:r>
          </a:p>
          <a:p xmlns:a="http://schemas.openxmlformats.org/drawingml/2006/main">
            <a:r>
              <a:t>4 clicks: team size, qualifying conditions, users, workflows. Expected benefits include less tool switching, faster triage, fewer blind approvals and stronger auditability. No customer adoption is claimed.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These are measurement categories, not results we have achieved.</a:t>
            </a:r>
          </a:p>
          <a:p xmlns:a="http://schemas.openxmlformats.org/drawingml/2006/main">
            <a:r>
              <a:t/>
            </a:r>
          </a:p>
          <a:p xmlns:a="http://schemas.openxmlformats.org/drawingml/2006/main">
            <a:r>
              <a:t>CORE EXPLANATION (about 25 seconds)</a:t>
            </a:r>
          </a:p>
          <a:p xmlns:a="http://schemas.openxmlformats.org/drawingml/2006/main">
            <a:r>
              <a:t>For the planned MVP, we would record triage time, review effort and verification outcomes on controlled cases. We also need evidence quality, memory provenance and the cost of failures or retries. Later pilots should compare similar changes against a baseline, using the same definitions. A faster result only counts as progress if evidence quality and rejection of unsafe changes remain acceptable.</a:t>
            </a:r>
          </a:p>
          <a:p xmlns:a="http://schemas.openxmlformats.org/drawingml/2006/main">
            <a:r>
              <a:t/>
            </a:r>
          </a:p>
          <a:p xmlns:a="http://schemas.openxmlformats.org/drawingml/2006/main">
            <a:r>
              <a:t>TRANSITION</a:t>
            </a:r>
          </a:p>
          <a:p xmlns:a="http://schemas.openxmlformats.org/drawingml/2006/main">
            <a:r>
              <a:t>Those measurements can become a business-value framework.</a:t>
            </a:r>
          </a:p>
          <a:p xmlns:a="http://schemas.openxmlformats.org/drawingml/2006/main">
            <a:r>
              <a:t/>
            </a:r>
          </a:p>
          <a:p xmlns:a="http://schemas.openxmlformats.org/drawingml/2006/main">
            <a:r>
              <a:t>PRESENTER CUES</a:t>
            </a:r>
          </a:p>
          <a:p xmlns:a="http://schemas.openxmlformats.org/drawingml/2006/main">
            <a:r>
              <a:t>4 clicks: efficiency, verification, context, baseline-to-pilot method. Gate satisfaction rate = proposals passing every required gate divided by all evaluated proposals. No target value has been invented.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Our commercial model is a hypothesis that needs customer validation.</a:t>
            </a:r>
          </a:p>
          <a:p xmlns:a="http://schemas.openxmlformats.org/drawingml/2006/main">
            <a:r>
              <a:t/>
            </a:r>
          </a:p>
          <a:p xmlns:a="http://schemas.openxmlformats.org/drawingml/2006/main">
            <a:r>
              <a:t>CORE EXPLANATION (about 25 seconds)</a:t>
            </a:r>
          </a:p>
          <a:p xmlns:a="http://schemas.openxmlformats.org/drawingml/2006/main">
            <a:r>
              <a:t>The initial offering could charge per repository for evidence and approval workflows. Team and private enterprise deployments would come later. We would estimate customer value from review hours saved times engineering cost, plus attributable avoided remediation or delay cost. We also have to measure compute and verification costs. The priority matrix keeps the first product focused on PR assurance and evidence aggregation.</a:t>
            </a:r>
          </a:p>
          <a:p xmlns:a="http://schemas.openxmlformats.org/drawingml/2006/main">
            <a:r>
              <a:t/>
            </a:r>
          </a:p>
          <a:p xmlns:a="http://schemas.openxmlformats.org/drawingml/2006/main">
            <a:r>
              <a:t>TRANSITION</a:t>
            </a:r>
          </a:p>
          <a:p xmlns:a="http://schemas.openxmlformats.org/drawingml/2006/main">
            <a:r>
              <a:t>The same focus makes the technical build more manageable.</a:t>
            </a:r>
          </a:p>
          <a:p xmlns:a="http://schemas.openxmlformats.org/drawingml/2006/main">
            <a:r>
              <a:t/>
            </a:r>
          </a:p>
          <a:p xmlns:a="http://schemas.openxmlformats.org/drawingml/2006/main">
            <a:r>
              <a:t>PRESENTER CUES</a:t>
            </a:r>
          </a:p>
          <a:p xmlns:a="http://schemas.openxmlformats.org/drawingml/2006/main">
            <a:r>
              <a:t>4 clicks: commercial model, value equation, priority matrix, implementation path. Treat avoided cost cautiously: estimate only with evidence and avoid double counting review time. Net customer benefit subtracts subscription and adoption costs. Contribution potential subtracts compute, infrastructure and support costs from revenue; none are measured yet. Roadmap: current research and architecture; single-repo MVP; CI, sandbox and verification integration; team runtime with private memory and policy; future enterprise deployment with audit governance. Matrix positions are team hypotheses, not validated market scores.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The first assurance loop can use existing components, but integration is still research work.</a:t>
            </a:r>
          </a:p>
          <a:p xmlns:a="http://schemas.openxmlformats.org/drawingml/2006/main">
            <a:r>
              <a:t/>
            </a:r>
          </a:p>
          <a:p xmlns:a="http://schemas.openxmlformats.org/drawingml/2006/main">
            <a:r>
              <a:t>CORE EXPLANATION (about 25 seconds)</a:t>
            </a:r>
          </a:p>
          <a:p xmlns:a="http://schemas.openxmlformats.org/drawingml/2006/main">
            <a:r>
              <a:t>Scanners, compilers, containers and CI hooks give us a starting point. The hard parts include context quality, safe private memory and verification orchestration. Each risk needs a control: human triage for noisy findings, defined checks for patches, provenance for memory, and bounded work for compute cost. Private deployment also needs secure access controls. These are proposed mitigations, not solved risks.</a:t>
            </a:r>
          </a:p>
          <a:p xmlns:a="http://schemas.openxmlformats.org/drawingml/2006/main">
            <a:r>
              <a:t/>
            </a:r>
          </a:p>
          <a:p xmlns:a="http://schemas.openxmlformats.org/drawingml/2006/main">
            <a:r>
              <a:t>TRANSITION</a:t>
            </a:r>
          </a:p>
          <a:p xmlns:a="http://schemas.openxmlformats.org/drawingml/2006/main">
            <a:r>
              <a:t>That leaves a specific differentiation hypothesis to validate.</a:t>
            </a:r>
          </a:p>
          <a:p xmlns:a="http://schemas.openxmlformats.org/drawingml/2006/main">
            <a:r>
              <a:t/>
            </a:r>
          </a:p>
          <a:p xmlns:a="http://schemas.openxmlformats.org/drawingml/2006/main">
            <a:r>
              <a:t>PRESENTER CUES</a:t>
            </a:r>
          </a:p>
          <a:p xmlns:a="http://schemas.openxmlformats.org/drawingml/2006/main">
            <a:r>
              <a:t>4 clicks: build now, research, scale later, risk pairs. Risk and mitigation rows reveal together. Include test incompleteness as a limitation: passing tests does not establish universal security.</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Our differentiation is proposed, and there is substantial competitive overlap.</a:t>
            </a:r>
          </a:p>
          <a:p xmlns:a="http://schemas.openxmlformats.org/drawingml/2006/main">
            <a:r>
              <a:t/>
            </a:r>
          </a:p>
          <a:p xmlns:a="http://schemas.openxmlformats.org/drawingml/2006/main">
            <a:r>
              <a:t>CORE EXPLANATION (about 25 seconds)</a:t>
            </a:r>
          </a:p>
          <a:p xmlns:a="http://schemas.openxmlformats.org/drawingml/2006/main">
            <a:r>
              <a:t>Coding agents already support repository context and testing, while CI and security tools provide strong verification and approval features. This directional matrix describes emphasis, not measured product performance. Avanta’s hypothesis is that private project context, cross-layer evidence and an explicit human gate can work well together in one assurance runtime. Any defensibility would have to emerge from that integration and validated memory practices.</a:t>
            </a:r>
          </a:p>
          <a:p xmlns:a="http://schemas.openxmlformats.org/drawingml/2006/main">
            <a:r>
              <a:t/>
            </a:r>
          </a:p>
          <a:p xmlns:a="http://schemas.openxmlformats.org/drawingml/2006/main">
            <a:r>
              <a:t>TRANSITION</a:t>
            </a:r>
          </a:p>
          <a:p xmlns:a="http://schemas.openxmlformats.org/drawingml/2006/main">
            <a:r>
              <a:t>Our team is building the foundations needed to test that hypothesis.</a:t>
            </a:r>
          </a:p>
          <a:p xmlns:a="http://schemas.openxmlformats.org/drawingml/2006/main">
            <a:r>
              <a:t/>
            </a:r>
          </a:p>
          <a:p xmlns:a="http://schemas.openxmlformats.org/drawingml/2006/main">
            <a:r>
              <a:t>PRESENTER CUES</a:t>
            </a:r>
          </a:p>
          <a:p xmlns:a="http://schemas.openxmlformats.org/drawingml/2006/main">
            <a:r>
              <a:t>3 clicks: comparison, four-part proposed wedge, potential defensibility and closing claim. LOW/MEDIUM/HIGH are qualitative team judgments, not scores established by cited vendors. Avanta ratings are target design intent, not delivered capability. No patents or established IP claimed. Sources establish representative feature overlap, not numerical rankings.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https://docs.github.com/en/copilot/concepts/agents/cloud-agent/about-cloud-agent</a:t>
            </a:r>
          </a:p>
          <a:p xmlns:a="http://schemas.openxmlformats.org/drawingml/2006/main">
            <a:r>
              <a:t>https://docs.github.com/en/code-security/concepts/code-scanning/code-scanning</a:t>
            </a:r>
          </a:p>
          <a:p xmlns:a="http://schemas.openxmlformats.org/drawingml/2006/main">
            <a:r>
              <a:t>https://docs.github.com/en/actions/get-started/understand-github-actions</a:t>
            </a:r>
          </a:p>
          <a:p xmlns:a="http://schemas.openxmlformats.org/drawingml/2006/main">
            <a:r>
              <a:t>https://opentelemetry.io/docs/what-is-opentelemetry/</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a student-led team at APS JRC.</a:t>
            </a:r>
          </a:p>
          <a:p xmlns:a="http://schemas.openxmlformats.org/drawingml/2006/main">
            <a:r>
              <a:t/>
            </a:r>
          </a:p>
          <a:p xmlns:a="http://schemas.openxmlformats.org/drawingml/2006/main">
            <a:r>
              <a:t>CORE EXPLANATION (about 25 seconds)</a:t>
            </a:r>
          </a:p>
          <a:p xmlns:a="http://schemas.openxmlformats.org/drawingml/2006/main">
            <a:r>
              <a:t>Pranav leads architecture, product vision and research. Aryan supports engineering, prototype development and testing. Gagan Chaddah mentors the team through guidance and review. Our vision is engineering intelligence that helps software remain secure and understandable as it changes. We are seeking technical mentorship, validation feedback and safe public or synthetic repositories. Future design partners would come after MVP validation.</a:t>
            </a:r>
          </a:p>
          <a:p xmlns:a="http://schemas.openxmlformats.org/drawingml/2006/main">
            <a:r>
              <a:t/>
            </a:r>
          </a:p>
          <a:p xmlns:a="http://schemas.openxmlformats.org/drawingml/2006/main">
            <a:r>
              <a:t>TRANSITION</a:t>
            </a:r>
          </a:p>
          <a:p xmlns:a="http://schemas.openxmlformats.org/drawingml/2006/main">
            <a:r>
              <a:t>Trust every change.</a:t>
            </a:r>
          </a:p>
          <a:p xmlns:a="http://schemas.openxmlformats.org/drawingml/2006/main">
            <a:r>
              <a:t/>
            </a:r>
          </a:p>
          <a:p xmlns:a="http://schemas.openxmlformats.org/drawingml/2006/main">
            <a:r>
              <a:t>PRESENTER CUES</a:t>
            </a:r>
          </a:p>
          <a:p xmlns:a="http://schemas.openxmlformats.org/drawingml/2006/main">
            <a:r>
              <a:t>3 clicks: team, student-led vision, final statement and invitation. Hold the final frame. Total core speaking time is approximately six minutes with normal pauses.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8ca9f5822b4d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660a85ac571547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Avanta 16:9">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ec45754e06413a" /><Relationship Type="http://schemas.openxmlformats.org/officeDocument/2006/relationships/slideLayout" Target="/ppt/slideLayouts/slideLayout1.xml" Id="R82f73ea0162e4d5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c61b03f27164f27" /><Relationship Type="http://schemas.openxmlformats.org/officeDocument/2006/relationships/slideLayout" Target="/ppt/slideLayouts/slideLayout2.xml" Id="Rf3e2a6a234d347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f73ea0162e4d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Privantrix Dark">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f3e2a6a234d347ce"/>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002b939558b405a" /><Relationship Type="http://schemas.openxmlformats.org/officeDocument/2006/relationships/notesSlide" Target="/ppt/notesSlides/notesSlide1.xml" Id="Rc9b8d70562684c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658cf95162b4133" /><Relationship Type="http://schemas.openxmlformats.org/officeDocument/2006/relationships/notesSlide" Target="/ppt/notesSlides/notesSlide2.xml" Id="R180205d804184e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8b5cc4163584fa5" /><Relationship Type="http://schemas.openxmlformats.org/officeDocument/2006/relationships/notesSlide" Target="/ppt/notesSlides/notesSlide3.xml" Id="Rc63daeebf82b4c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92ca392bbf048b6" /><Relationship Type="http://schemas.openxmlformats.org/officeDocument/2006/relationships/notesSlide" Target="/ppt/notesSlides/notesSlide4.xml" Id="Rc83bb174c5f947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072ed2deb314341" /><Relationship Type="http://schemas.openxmlformats.org/officeDocument/2006/relationships/notesSlide" Target="/ppt/notesSlides/notesSlide5.xml" Id="Rc43cdafd3dd042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eb51b2b84994d70" /><Relationship Type="http://schemas.openxmlformats.org/officeDocument/2006/relationships/notesSlide" Target="/ppt/notesSlides/notesSlide6.xml" Id="Re03c776718cd4e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9bedcb47a9d4d56" /><Relationship Type="http://schemas.openxmlformats.org/officeDocument/2006/relationships/notesSlide" Target="/ppt/notesSlides/notesSlide7.xml" Id="Rf92b869a53a345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0e72107de054b33" /><Relationship Type="http://schemas.openxmlformats.org/officeDocument/2006/relationships/notesSlide" Target="/ppt/notesSlides/notesSlide8.xml" Id="R617c5573c09b41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cfbc9dc19af4a52" /><Relationship Type="http://schemas.openxmlformats.org/officeDocument/2006/relationships/notesSlide" Target="/ppt/notesSlides/notesSlide9.xml" Id="Re8c60dbd758846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b8130487d96438b" /><Relationship Type="http://schemas.openxmlformats.org/officeDocument/2006/relationships/notesSlide" Target="/ppt/notesSlides/notesSlide10.xml" Id="Rfc273788537c41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240c9f9e4cc482d" /><Relationship Type="http://schemas.openxmlformats.org/officeDocument/2006/relationships/notesSlide" Target="/ppt/notesSlides/notesSlide11.xml" Id="Rceee5f18c37e40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74c720388ec4f14" /><Relationship Type="http://schemas.openxmlformats.org/officeDocument/2006/relationships/notesSlide" Target="/ppt/notesSlides/notesSlide12.xml" Id="Rb29d34596e4b4f2f" /></Relationships>
</file>

<file path=ppt/slides/slide1.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0" name="b0_text_1">
            <a:extLst xmlns:a="http://schemas.openxmlformats.org/drawingml/2006/main">
              <a:ext uri="{FF2B5EF4-FFF2-40B4-BE49-F238E27FC236}">
                <a16:creationId xmlns:a16="http://schemas.microsoft.com/office/drawing/2014/main" id="{AC37A689-7A61-4C74-A0FD-C210B56F5583}"/>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01  /  COVER SLIDE</a:t>
            </a:r>
          </a:p>
        </p:txBody>
      </p:sp>
      <p:sp>
        <p:nvSpPr>
          <p:cNvPr id="2" name="b0_flow_2">
            <a:extLst xmlns:a="http://schemas.openxmlformats.org/drawingml/2006/main">
              <a:ext uri="{FF2B5EF4-FFF2-40B4-BE49-F238E27FC236}">
                <a16:creationId xmlns:a16="http://schemas.microsoft.com/office/drawing/2014/main" id="{10784AAB-6CCA-4BDE-8CB4-38E476250329}"/>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 name="b0_text_3">
            <a:extLst xmlns:a="http://schemas.openxmlformats.org/drawingml/2006/main">
              <a:ext uri="{FF2B5EF4-FFF2-40B4-BE49-F238E27FC236}">
                <a16:creationId xmlns:a16="http://schemas.microsoft.com/office/drawing/2014/main" id="{CB2BF460-3A2D-4895-A6C5-EF4C001B6AE5}"/>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4" name="b0_page_4">
            <a:extLst xmlns:a="http://schemas.openxmlformats.org/drawingml/2006/main">
              <a:ext uri="{FF2B5EF4-FFF2-40B4-BE49-F238E27FC236}">
                <a16:creationId xmlns:a16="http://schemas.microsoft.com/office/drawing/2014/main" id="{088FD725-AA63-4D51-9734-975AEB2F4935}"/>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01</a:t>
            </a:r>
          </a:p>
        </p:txBody>
      </p:sp>
      <p:sp>
        <p:nvSpPr>
          <p:cNvPr id="5" name="b0_text_5">
            <a:extLst xmlns:a="http://schemas.openxmlformats.org/drawingml/2006/main">
              <a:ext uri="{FF2B5EF4-FFF2-40B4-BE49-F238E27FC236}">
                <a16:creationId xmlns:a16="http://schemas.microsoft.com/office/drawing/2014/main" id="{950F6AC6-D017-4500-AEE7-D6400A2636D2}"/>
              </a:ext>
            </a:extLst>
          </p:cNvPr>
          <p:cNvSpPr>
            <a:spLocks xmlns:a="http://schemas.openxmlformats.org/drawingml/2006/main" noGrp="1"/>
          </p:cNvSpPr>
          <p:nvPr/>
        </p:nvSpPr>
        <p:spPr>
          <a:xfrm xmlns:a="http://schemas.openxmlformats.org/drawingml/2006/main">
            <a:off x="533400" y="1123950"/>
            <a:ext cx="581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PRIVANTRIX</a:t>
            </a:r>
          </a:p>
        </p:txBody>
      </p:sp>
      <p:sp>
        <p:nvSpPr>
          <p:cNvPr id="6" name="b0_text_6">
            <a:extLst xmlns:a="http://schemas.openxmlformats.org/drawingml/2006/main">
              <a:ext uri="{FF2B5EF4-FFF2-40B4-BE49-F238E27FC236}">
                <a16:creationId xmlns:a16="http://schemas.microsoft.com/office/drawing/2014/main" id="{995E2006-2917-465F-B9FE-807591234E77}"/>
              </a:ext>
            </a:extLst>
          </p:cNvPr>
          <p:cNvSpPr>
            <a:spLocks xmlns:a="http://schemas.openxmlformats.org/drawingml/2006/main" noGrp="1"/>
          </p:cNvSpPr>
          <p:nvPr/>
        </p:nvSpPr>
        <p:spPr>
          <a:xfrm xmlns:a="http://schemas.openxmlformats.org/drawingml/2006/main">
            <a:off x="495300" y="1552575"/>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100" b="1">
                <a:solidFill>
                  <a:srgbClr val="F5F8FC"/>
                </a:solidFill>
                <a:latin typeface="Arial"/>
                <a:ea typeface="Arial"/>
                <a:cs typeface="Arial"/>
              </a:defRPr>
            </a:pPr>
            <a:r>
              <a:rPr sz="8100" b="1">
                <a:solidFill>
                  <a:srgbClr val="F5F8FC"/>
                </a:solidFill>
                <a:latin typeface="Arial"/>
                <a:ea typeface="Arial"/>
                <a:cs typeface="Arial"/>
              </a:rPr>
              <a:t>AVANTA</a:t>
            </a:r>
          </a:p>
        </p:txBody>
      </p:sp>
      <p:sp>
        <p:nvSpPr>
          <p:cNvPr id="7" name="b0_text_7">
            <a:extLst xmlns:a="http://schemas.openxmlformats.org/drawingml/2006/main">
              <a:ext uri="{FF2B5EF4-FFF2-40B4-BE49-F238E27FC236}">
                <a16:creationId xmlns:a16="http://schemas.microsoft.com/office/drawing/2014/main" id="{96D676AA-F698-4963-B176-6BFC7FF5C816}"/>
              </a:ext>
            </a:extLst>
          </p:cNvPr>
          <p:cNvSpPr>
            <a:spLocks xmlns:a="http://schemas.openxmlformats.org/drawingml/2006/main" noGrp="1"/>
          </p:cNvSpPr>
          <p:nvPr/>
        </p:nvSpPr>
        <p:spPr>
          <a:xfrm xmlns:a="http://schemas.openxmlformats.org/drawingml/2006/main">
            <a:off x="533400" y="29146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52D5F2"/>
                </a:solidFill>
                <a:latin typeface="Arial"/>
                <a:ea typeface="Arial"/>
                <a:cs typeface="Arial"/>
              </a:defRPr>
            </a:pPr>
            <a:r>
              <a:rPr sz="2475" b="0">
                <a:solidFill>
                  <a:srgbClr val="52D5F2"/>
                </a:solidFill>
                <a:latin typeface="Arial"/>
                <a:ea typeface="Arial"/>
                <a:cs typeface="Arial"/>
              </a:rPr>
              <a:t>Continuous Software Assurance</a:t>
            </a:r>
          </a:p>
        </p:txBody>
      </p:sp>
      <p:sp>
        <p:nvSpPr>
          <p:cNvPr id="8" name="b1_flow_8">
            <a:extLst xmlns:a="http://schemas.openxmlformats.org/drawingml/2006/main">
              <a:ext uri="{FF2B5EF4-FFF2-40B4-BE49-F238E27FC236}">
                <a16:creationId xmlns:a16="http://schemas.microsoft.com/office/drawing/2014/main" id="{52312B4E-8FDF-4CE4-A5FE-39BCEB03F8E4}"/>
              </a:ext>
            </a:extLst>
          </p:cNvPr>
          <p:cNvSpPr>
            <a:spLocks xmlns:a="http://schemas.openxmlformats.org/drawingml/2006/main" noGrp="1"/>
          </p:cNvSpPr>
          <p:nvPr/>
        </p:nvSpPr>
        <p:spPr>
          <a:xfrm xmlns:a="http://schemas.openxmlformats.org/drawingml/2006/main">
            <a:off x="7705725" y="1524000"/>
            <a:ext cx="28575" cy="35242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9" name="b1_text_9">
            <a:extLst xmlns:a="http://schemas.openxmlformats.org/drawingml/2006/main">
              <a:ext uri="{FF2B5EF4-FFF2-40B4-BE49-F238E27FC236}">
                <a16:creationId xmlns:a16="http://schemas.microsoft.com/office/drawing/2014/main" id="{AAA07212-0CCF-4C81-869B-B4B6B98D646F}"/>
              </a:ext>
            </a:extLst>
          </p:cNvPr>
          <p:cNvSpPr>
            <a:spLocks xmlns:a="http://schemas.openxmlformats.org/drawingml/2006/main" noGrp="1"/>
          </p:cNvSpPr>
          <p:nvPr/>
        </p:nvSpPr>
        <p:spPr>
          <a:xfrm xmlns:a="http://schemas.openxmlformats.org/drawingml/2006/main">
            <a:off x="8143875" y="16192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5F8FC"/>
                </a:solidFill>
                <a:latin typeface="Arial"/>
                <a:ea typeface="Arial"/>
                <a:cs typeface="Arial"/>
              </a:defRPr>
            </a:pPr>
            <a:r>
              <a:rPr sz="5100" b="1">
                <a:solidFill>
                  <a:srgbClr val="F5F8FC"/>
                </a:solidFill>
                <a:latin typeface="Arial"/>
                <a:ea typeface="Arial"/>
                <a:cs typeface="Arial"/>
              </a:rPr>
              <a:t>TRUST</a:t>
            </a:r>
          </a:p>
        </p:txBody>
      </p:sp>
      <p:sp>
        <p:nvSpPr>
          <p:cNvPr id="10" name="b1_text_10">
            <a:extLst xmlns:a="http://schemas.openxmlformats.org/drawingml/2006/main">
              <a:ext uri="{FF2B5EF4-FFF2-40B4-BE49-F238E27FC236}">
                <a16:creationId xmlns:a16="http://schemas.microsoft.com/office/drawing/2014/main" id="{75215194-492C-4C44-BED7-C2298D1A8CB6}"/>
              </a:ext>
            </a:extLst>
          </p:cNvPr>
          <p:cNvSpPr>
            <a:spLocks xmlns:a="http://schemas.openxmlformats.org/drawingml/2006/main" noGrp="1"/>
          </p:cNvSpPr>
          <p:nvPr/>
        </p:nvSpPr>
        <p:spPr>
          <a:xfrm xmlns:a="http://schemas.openxmlformats.org/drawingml/2006/main">
            <a:off x="8143875" y="247650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5F8FC"/>
                </a:solidFill>
                <a:latin typeface="Arial"/>
                <a:ea typeface="Arial"/>
                <a:cs typeface="Arial"/>
              </a:defRPr>
            </a:pPr>
            <a:r>
              <a:rPr sz="5100" b="1">
                <a:solidFill>
                  <a:srgbClr val="F5F8FC"/>
                </a:solidFill>
                <a:latin typeface="Arial"/>
                <a:ea typeface="Arial"/>
                <a:cs typeface="Arial"/>
              </a:rPr>
              <a:t>EVERY</a:t>
            </a:r>
          </a:p>
        </p:txBody>
      </p:sp>
      <p:sp>
        <p:nvSpPr>
          <p:cNvPr id="11" name="b1_text_11">
            <a:extLst xmlns:a="http://schemas.openxmlformats.org/drawingml/2006/main">
              <a:ext uri="{FF2B5EF4-FFF2-40B4-BE49-F238E27FC236}">
                <a16:creationId xmlns:a16="http://schemas.microsoft.com/office/drawing/2014/main" id="{1040A495-743A-4191-9FBF-546194492A00}"/>
              </a:ext>
            </a:extLst>
          </p:cNvPr>
          <p:cNvSpPr>
            <a:spLocks xmlns:a="http://schemas.openxmlformats.org/drawingml/2006/main" noGrp="1"/>
          </p:cNvSpPr>
          <p:nvPr/>
        </p:nvSpPr>
        <p:spPr>
          <a:xfrm xmlns:a="http://schemas.openxmlformats.org/drawingml/2006/main">
            <a:off x="8143875" y="33337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52D5F2"/>
                </a:solidFill>
                <a:latin typeface="Arial"/>
                <a:ea typeface="Arial"/>
                <a:cs typeface="Arial"/>
              </a:defRPr>
            </a:pPr>
            <a:r>
              <a:rPr sz="5100" b="1">
                <a:solidFill>
                  <a:srgbClr val="52D5F2"/>
                </a:solidFill>
                <a:latin typeface="Arial"/>
                <a:ea typeface="Arial"/>
                <a:cs typeface="Arial"/>
              </a:rPr>
              <a:t>CHANGE.</a:t>
            </a:r>
          </a:p>
        </p:txBody>
      </p:sp>
      <p:sp>
        <p:nvSpPr>
          <p:cNvPr id="12" name="b1_text_12">
            <a:extLst xmlns:a="http://schemas.openxmlformats.org/drawingml/2006/main">
              <a:ext uri="{FF2B5EF4-FFF2-40B4-BE49-F238E27FC236}">
                <a16:creationId xmlns:a16="http://schemas.microsoft.com/office/drawing/2014/main" id="{B4DCAF2B-4102-465B-ADD7-C6730D1A5ED6}"/>
              </a:ext>
            </a:extLst>
          </p:cNvPr>
          <p:cNvSpPr>
            <a:spLocks xmlns:a="http://schemas.openxmlformats.org/drawingml/2006/main" noGrp="1"/>
          </p:cNvSpPr>
          <p:nvPr/>
        </p:nvSpPr>
        <p:spPr>
          <a:xfrm xmlns:a="http://schemas.openxmlformats.org/drawingml/2006/main">
            <a:off x="533400" y="3676650"/>
            <a:ext cx="6715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BDCADA"/>
                </a:solidFill>
                <a:latin typeface="Arial"/>
                <a:ea typeface="Arial"/>
                <a:cs typeface="Arial"/>
              </a:defRPr>
            </a:pPr>
            <a:r>
              <a:rPr sz="2025" b="0">
                <a:solidFill>
                  <a:srgbClr val="BDCADA"/>
                </a:solidFill>
                <a:latin typeface="Arial"/>
                <a:ea typeface="Arial"/>
                <a:cs typeface="Arial"/>
              </a:rPr>
              <a:t>A private trust runtime concept for</a:t>
            </a:r>
          </a:p>
          <a:p xmlns:a="http://schemas.openxmlformats.org/drawingml/2006/main">
            <a:pPr algn="l">
              <a:defRPr sz="2025" b="0">
                <a:solidFill>
                  <a:srgbClr val="BDCADA"/>
                </a:solidFill>
                <a:latin typeface="Arial"/>
                <a:ea typeface="Arial"/>
                <a:cs typeface="Arial"/>
              </a:defRPr>
            </a:pPr>
            <a:r>
              <a:rPr sz="2025" b="0">
                <a:solidFill>
                  <a:srgbClr val="BDCADA"/>
                </a:solidFill>
                <a:latin typeface="Arial"/>
                <a:ea typeface="Arial"/>
                <a:cs typeface="Arial"/>
              </a:rPr>
              <a:t>evidence-driven software change.</a:t>
            </a:r>
          </a:p>
        </p:txBody>
      </p:sp>
      <p:sp>
        <p:nvSpPr>
          <p:cNvPr id="13" name="b1_text_13">
            <a:extLst xmlns:a="http://schemas.openxmlformats.org/drawingml/2006/main">
              <a:ext uri="{FF2B5EF4-FFF2-40B4-BE49-F238E27FC236}">
                <a16:creationId xmlns:a16="http://schemas.microsoft.com/office/drawing/2014/main" id="{80113093-2C70-4CD8-8B22-993DDD1FB4BC}"/>
              </a:ext>
            </a:extLst>
          </p:cNvPr>
          <p:cNvSpPr>
            <a:spLocks xmlns:a="http://schemas.openxmlformats.org/drawingml/2006/main" noGrp="1"/>
          </p:cNvSpPr>
          <p:nvPr/>
        </p:nvSpPr>
        <p:spPr>
          <a:xfrm xmlns:a="http://schemas.openxmlformats.org/drawingml/2006/main">
            <a:off x="533400" y="4838700"/>
            <a:ext cx="695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CURRENTLY IN RESEARCH &amp; DEVELOPMENT</a:t>
            </a:r>
          </a:p>
        </p:txBody>
      </p:sp>
      <p:sp>
        <p:nvSpPr>
          <p:cNvPr id="14" name="b2_text_14">
            <a:extLst xmlns:a="http://schemas.openxmlformats.org/drawingml/2006/main">
              <a:ext uri="{FF2B5EF4-FFF2-40B4-BE49-F238E27FC236}">
                <a16:creationId xmlns:a16="http://schemas.microsoft.com/office/drawing/2014/main" id="{2D87BC4A-5012-4C30-BF7C-077D079D3E82}"/>
              </a:ext>
            </a:extLst>
          </p:cNvPr>
          <p:cNvSpPr>
            <a:spLocks xmlns:a="http://schemas.openxmlformats.org/drawingml/2006/main" noGrp="1"/>
          </p:cNvSpPr>
          <p:nvPr/>
        </p:nvSpPr>
        <p:spPr>
          <a:xfrm xmlns:a="http://schemas.openxmlformats.org/drawingml/2006/main">
            <a:off x="533400" y="5505450"/>
            <a:ext cx="3667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Pranav Kumar Mishra</a:t>
            </a:r>
          </a:p>
        </p:txBody>
      </p:sp>
      <p:sp>
        <p:nvSpPr>
          <p:cNvPr id="15" name="b2_text_15">
            <a:extLst xmlns:a="http://schemas.openxmlformats.org/drawingml/2006/main">
              <a:ext uri="{FF2B5EF4-FFF2-40B4-BE49-F238E27FC236}">
                <a16:creationId xmlns:a16="http://schemas.microsoft.com/office/drawing/2014/main" id="{A7956F1E-B491-4678-858A-641A0E1DDBCE}"/>
              </a:ext>
            </a:extLst>
          </p:cNvPr>
          <p:cNvSpPr>
            <a:spLocks xmlns:a="http://schemas.openxmlformats.org/drawingml/2006/main" noGrp="1"/>
          </p:cNvSpPr>
          <p:nvPr/>
        </p:nvSpPr>
        <p:spPr>
          <a:xfrm xmlns:a="http://schemas.openxmlformats.org/drawingml/2006/main">
            <a:off x="533400" y="5810250"/>
            <a:ext cx="366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Project Lead</a:t>
            </a:r>
          </a:p>
        </p:txBody>
      </p:sp>
      <p:sp>
        <p:nvSpPr>
          <p:cNvPr id="16" name="b2_text_16">
            <a:extLst xmlns:a="http://schemas.openxmlformats.org/drawingml/2006/main">
              <a:ext uri="{FF2B5EF4-FFF2-40B4-BE49-F238E27FC236}">
                <a16:creationId xmlns:a16="http://schemas.microsoft.com/office/drawing/2014/main" id="{E89C3B5B-29D3-4830-8C52-144C55568B5E}"/>
              </a:ext>
            </a:extLst>
          </p:cNvPr>
          <p:cNvSpPr>
            <a:spLocks xmlns:a="http://schemas.openxmlformats.org/drawingml/2006/main" noGrp="1"/>
          </p:cNvSpPr>
          <p:nvPr/>
        </p:nvSpPr>
        <p:spPr>
          <a:xfrm xmlns:a="http://schemas.openxmlformats.org/drawingml/2006/main">
            <a:off x="4362450" y="55054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Aryan Kashyap</a:t>
            </a:r>
          </a:p>
        </p:txBody>
      </p:sp>
      <p:sp>
        <p:nvSpPr>
          <p:cNvPr id="17" name="b2_text_17">
            <a:extLst xmlns:a="http://schemas.openxmlformats.org/drawingml/2006/main">
              <a:ext uri="{FF2B5EF4-FFF2-40B4-BE49-F238E27FC236}">
                <a16:creationId xmlns:a16="http://schemas.microsoft.com/office/drawing/2014/main" id="{24ACC9E8-7FB3-4F6B-AB44-2710AD377E20}"/>
              </a:ext>
            </a:extLst>
          </p:cNvPr>
          <p:cNvSpPr>
            <a:spLocks xmlns:a="http://schemas.openxmlformats.org/drawingml/2006/main" noGrp="1"/>
          </p:cNvSpPr>
          <p:nvPr/>
        </p:nvSpPr>
        <p:spPr>
          <a:xfrm xmlns:a="http://schemas.openxmlformats.org/drawingml/2006/main">
            <a:off x="4362450" y="58102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Co-Lead</a:t>
            </a:r>
          </a:p>
        </p:txBody>
      </p:sp>
      <p:sp>
        <p:nvSpPr>
          <p:cNvPr id="18" name="b2_text_18">
            <a:extLst xmlns:a="http://schemas.openxmlformats.org/drawingml/2006/main">
              <a:ext uri="{FF2B5EF4-FFF2-40B4-BE49-F238E27FC236}">
                <a16:creationId xmlns:a16="http://schemas.microsoft.com/office/drawing/2014/main" id="{96EF84C0-F879-48B5-A9D5-F6F30181CA90}"/>
              </a:ext>
            </a:extLst>
          </p:cNvPr>
          <p:cNvSpPr>
            <a:spLocks xmlns:a="http://schemas.openxmlformats.org/drawingml/2006/main" noGrp="1"/>
          </p:cNvSpPr>
          <p:nvPr/>
        </p:nvSpPr>
        <p:spPr>
          <a:xfrm xmlns:a="http://schemas.openxmlformats.org/drawingml/2006/main">
            <a:off x="7839075" y="5505450"/>
            <a:ext cx="304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Gagan Chaddah</a:t>
            </a:r>
          </a:p>
        </p:txBody>
      </p:sp>
      <p:sp>
        <p:nvSpPr>
          <p:cNvPr id="19" name="b2_text_19">
            <a:extLst xmlns:a="http://schemas.openxmlformats.org/drawingml/2006/main">
              <a:ext uri="{FF2B5EF4-FFF2-40B4-BE49-F238E27FC236}">
                <a16:creationId xmlns:a16="http://schemas.microsoft.com/office/drawing/2014/main" id="{2509858D-6D91-4EF1-AC80-2B9A2ACF19B0}"/>
              </a:ext>
            </a:extLst>
          </p:cNvPr>
          <p:cNvSpPr>
            <a:spLocks xmlns:a="http://schemas.openxmlformats.org/drawingml/2006/main" noGrp="1"/>
          </p:cNvSpPr>
          <p:nvPr/>
        </p:nvSpPr>
        <p:spPr>
          <a:xfrm xmlns:a="http://schemas.openxmlformats.org/drawingml/2006/main">
            <a:off x="7839075" y="58102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Mentor  /  APS JRC</a:t>
            </a:r>
          </a:p>
        </p:txBody>
      </p:sp>
    </p:spTree>
    <p:extLst>
      <p:ext uri="{BB962C8B-B14F-4D97-AF65-F5344CB8AC3E}">
        <p14:creationId xmlns:p14="http://schemas.microsoft.com/office/powerpoint/2010/main" val="273804585"/>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350"/>
                                        <p:tgtEl>
                                          <p:spTgt spid="8"/>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00"/>
                                        <p:tgtEl>
                                          <p:spTgt spid="9"/>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par>
                                <p:cTn id="14" presetID="10" presetClass="entr" presetSubtype="0" fill="hold" grpId="0" nodeType="withEffect">
                                  <p:stCondLst>
                                    <p:cond delay="54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00"/>
                                        <p:tgtEl>
                                          <p:spTgt spid="11"/>
                                        </p:tgtEl>
                                      </p:cBhvr>
                                    </p:animEffect>
                                  </p:childTnLst>
                                </p:cTn>
                              </p:par>
                              <p:par>
                                <p:cTn id="17" presetID="10" presetClass="entr" presetSubtype="0" fill="hold" grpId="0" nodeType="withEffect">
                                  <p:stCondLst>
                                    <p:cond delay="54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00"/>
                                        <p:tgtEl>
                                          <p:spTgt spid="12"/>
                                        </p:tgtEl>
                                      </p:cBhvr>
                                    </p:animEffect>
                                  </p:childTnLst>
                                </p:cTn>
                              </p:par>
                              <p:par>
                                <p:cTn id="20" presetID="10" presetClass="entr" presetSubtype="0" fill="hold" grpId="0" nodeType="withEffect">
                                  <p:stCondLst>
                                    <p:cond delay="54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3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6" name="b0_text_20">
            <a:extLst xmlns:a="http://schemas.openxmlformats.org/drawingml/2006/main">
              <a:ext uri="{FF2B5EF4-FFF2-40B4-BE49-F238E27FC236}">
                <a16:creationId xmlns:a16="http://schemas.microsoft.com/office/drawing/2014/main" id="{F9EE6120-03C3-4E63-B71A-D83AEFD8781E}"/>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02  /  PROBLEM &amp; OPPORTUNITY</a:t>
            </a:r>
          </a:p>
        </p:txBody>
      </p:sp>
      <p:sp>
        <p:nvSpPr>
          <p:cNvPr id="2" name="b0_headline_21">
            <a:extLst xmlns:a="http://schemas.openxmlformats.org/drawingml/2006/main">
              <a:ext uri="{FF2B5EF4-FFF2-40B4-BE49-F238E27FC236}">
                <a16:creationId xmlns:a16="http://schemas.microsoft.com/office/drawing/2014/main" id="{6F48366B-90C7-4DF1-A1CA-FCB793D58FDA}"/>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AI adoption is high. Trust still needs evidence.</a:t>
            </a:r>
          </a:p>
        </p:txBody>
      </p:sp>
      <p:sp>
        <p:nvSpPr>
          <p:cNvPr id="3" name="b0_flow_22">
            <a:extLst xmlns:a="http://schemas.openxmlformats.org/drawingml/2006/main">
              <a:ext uri="{FF2B5EF4-FFF2-40B4-BE49-F238E27FC236}">
                <a16:creationId xmlns:a16="http://schemas.microsoft.com/office/drawing/2014/main" id="{1F31B933-1111-41EF-A6D4-75F8D10EBE40}"/>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3">
            <a:extLst xmlns:a="http://schemas.openxmlformats.org/drawingml/2006/main">
              <a:ext uri="{FF2B5EF4-FFF2-40B4-BE49-F238E27FC236}">
                <a16:creationId xmlns:a16="http://schemas.microsoft.com/office/drawing/2014/main" id="{AD3A4AC0-C8B5-4699-BA35-E8042819C539}"/>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4">
            <a:extLst xmlns:a="http://schemas.openxmlformats.org/drawingml/2006/main">
              <a:ext uri="{FF2B5EF4-FFF2-40B4-BE49-F238E27FC236}">
                <a16:creationId xmlns:a16="http://schemas.microsoft.com/office/drawing/2014/main" id="{92AB7E9A-9342-4406-897A-AC9868EF7098}"/>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02</a:t>
            </a:r>
          </a:p>
        </p:txBody>
      </p:sp>
      <p:sp>
        <p:nvSpPr>
          <p:cNvPr id="6" name="b1_text_25">
            <a:extLst xmlns:a="http://schemas.openxmlformats.org/drawingml/2006/main">
              <a:ext uri="{FF2B5EF4-FFF2-40B4-BE49-F238E27FC236}">
                <a16:creationId xmlns:a16="http://schemas.microsoft.com/office/drawing/2014/main" id="{DFF74DF4-8D78-4A51-83E6-44786E1155CE}"/>
              </a:ext>
            </a:extLst>
          </p:cNvPr>
          <p:cNvSpPr>
            <a:spLocks xmlns:a="http://schemas.openxmlformats.org/drawingml/2006/main" noGrp="1"/>
          </p:cNvSpPr>
          <p:nvPr/>
        </p:nvSpPr>
        <p:spPr>
          <a:xfrm xmlns:a="http://schemas.openxmlformats.org/drawingml/2006/main">
            <a:off x="533400" y="195262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SOFTWARE CHANGE</a:t>
            </a:r>
          </a:p>
        </p:txBody>
      </p:sp>
      <p:sp>
        <p:nvSpPr>
          <p:cNvPr id="7" name="b1_flow_26">
            <a:extLst xmlns:a="http://schemas.openxmlformats.org/drawingml/2006/main">
              <a:ext uri="{FF2B5EF4-FFF2-40B4-BE49-F238E27FC236}">
                <a16:creationId xmlns:a16="http://schemas.microsoft.com/office/drawing/2014/main" id="{88236557-D855-43A8-9D21-767149DFC03B}"/>
              </a:ext>
            </a:extLst>
          </p:cNvPr>
          <p:cNvSpPr>
            <a:spLocks xmlns:a="http://schemas.openxmlformats.org/drawingml/2006/main" noGrp="1"/>
          </p:cNvSpPr>
          <p:nvPr/>
        </p:nvSpPr>
        <p:spPr>
          <a:xfrm xmlns:a="http://schemas.openxmlformats.org/drawingml/2006/main">
            <a:off x="533400" y="2428875"/>
            <a:ext cx="59531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commit_27">
            <a:extLst xmlns:a="http://schemas.openxmlformats.org/drawingml/2006/main">
              <a:ext uri="{FF2B5EF4-FFF2-40B4-BE49-F238E27FC236}">
                <a16:creationId xmlns:a16="http://schemas.microsoft.com/office/drawing/2014/main" id="{D59CE639-3B0B-405E-985F-76BF44A64E9B}"/>
              </a:ext>
            </a:extLst>
          </p:cNvPr>
          <p:cNvSpPr>
            <a:spLocks xmlns:a="http://schemas.openxmlformats.org/drawingml/2006/main" noGrp="1"/>
          </p:cNvSpPr>
          <p:nvPr/>
        </p:nvSpPr>
        <p:spPr>
          <a:xfrm xmlns:a="http://schemas.openxmlformats.org/drawingml/2006/main">
            <a:off x="78105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9" name="b1_commit_28">
            <a:extLst xmlns:a="http://schemas.openxmlformats.org/drawingml/2006/main">
              <a:ext uri="{FF2B5EF4-FFF2-40B4-BE49-F238E27FC236}">
                <a16:creationId xmlns:a16="http://schemas.microsoft.com/office/drawing/2014/main" id="{1B82B152-52E4-4D97-B6A7-A79ADE35348F}"/>
              </a:ext>
            </a:extLst>
          </p:cNvPr>
          <p:cNvSpPr>
            <a:spLocks xmlns:a="http://schemas.openxmlformats.org/drawingml/2006/main" noGrp="1"/>
          </p:cNvSpPr>
          <p:nvPr/>
        </p:nvSpPr>
        <p:spPr>
          <a:xfrm xmlns:a="http://schemas.openxmlformats.org/drawingml/2006/main">
            <a:off x="155257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0" name="b1_commit_29">
            <a:extLst xmlns:a="http://schemas.openxmlformats.org/drawingml/2006/main">
              <a:ext uri="{FF2B5EF4-FFF2-40B4-BE49-F238E27FC236}">
                <a16:creationId xmlns:a16="http://schemas.microsoft.com/office/drawing/2014/main" id="{BB4F540C-B3F9-433A-871B-8A3A4C6250AB}"/>
              </a:ext>
            </a:extLst>
          </p:cNvPr>
          <p:cNvSpPr>
            <a:spLocks xmlns:a="http://schemas.openxmlformats.org/drawingml/2006/main" noGrp="1"/>
          </p:cNvSpPr>
          <p:nvPr/>
        </p:nvSpPr>
        <p:spPr>
          <a:xfrm xmlns:a="http://schemas.openxmlformats.org/drawingml/2006/main">
            <a:off x="232410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1" name="b1_commit_30">
            <a:extLst xmlns:a="http://schemas.openxmlformats.org/drawingml/2006/main">
              <a:ext uri="{FF2B5EF4-FFF2-40B4-BE49-F238E27FC236}">
                <a16:creationId xmlns:a16="http://schemas.microsoft.com/office/drawing/2014/main" id="{AD993D7F-486A-40FD-B260-FC4CAB58295C}"/>
              </a:ext>
            </a:extLst>
          </p:cNvPr>
          <p:cNvSpPr>
            <a:spLocks xmlns:a="http://schemas.openxmlformats.org/drawingml/2006/main" noGrp="1"/>
          </p:cNvSpPr>
          <p:nvPr/>
        </p:nvSpPr>
        <p:spPr>
          <a:xfrm xmlns:a="http://schemas.openxmlformats.org/drawingml/2006/main">
            <a:off x="309562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2" name="b1_commit_31">
            <a:extLst xmlns:a="http://schemas.openxmlformats.org/drawingml/2006/main">
              <a:ext uri="{FF2B5EF4-FFF2-40B4-BE49-F238E27FC236}">
                <a16:creationId xmlns:a16="http://schemas.microsoft.com/office/drawing/2014/main" id="{120D18DB-ED78-4855-8B50-0E39DB2EC359}"/>
              </a:ext>
            </a:extLst>
          </p:cNvPr>
          <p:cNvSpPr>
            <a:spLocks xmlns:a="http://schemas.openxmlformats.org/drawingml/2006/main" noGrp="1"/>
          </p:cNvSpPr>
          <p:nvPr/>
        </p:nvSpPr>
        <p:spPr>
          <a:xfrm xmlns:a="http://schemas.openxmlformats.org/drawingml/2006/main">
            <a:off x="386715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3" name="b1_commit_32">
            <a:extLst xmlns:a="http://schemas.openxmlformats.org/drawingml/2006/main">
              <a:ext uri="{FF2B5EF4-FFF2-40B4-BE49-F238E27FC236}">
                <a16:creationId xmlns:a16="http://schemas.microsoft.com/office/drawing/2014/main" id="{959A82BF-88DA-4EB7-91C9-1BB5F965D64B}"/>
              </a:ext>
            </a:extLst>
          </p:cNvPr>
          <p:cNvSpPr>
            <a:spLocks xmlns:a="http://schemas.openxmlformats.org/drawingml/2006/main" noGrp="1"/>
          </p:cNvSpPr>
          <p:nvPr/>
        </p:nvSpPr>
        <p:spPr>
          <a:xfrm xmlns:a="http://schemas.openxmlformats.org/drawingml/2006/main">
            <a:off x="463867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4" name="b1_box_33">
            <a:extLst xmlns:a="http://schemas.openxmlformats.org/drawingml/2006/main">
              <a:ext uri="{FF2B5EF4-FFF2-40B4-BE49-F238E27FC236}">
                <a16:creationId xmlns:a16="http://schemas.microsoft.com/office/drawing/2014/main" id="{EE4171B5-A8BD-4062-B88B-A6A36F7578AF}"/>
              </a:ext>
            </a:extLst>
          </p:cNvPr>
          <p:cNvSpPr>
            <a:spLocks xmlns:a="http://schemas.openxmlformats.org/drawingml/2006/main" noGrp="1"/>
          </p:cNvSpPr>
          <p:nvPr/>
        </p:nvSpPr>
        <p:spPr>
          <a:xfrm xmlns:a="http://schemas.openxmlformats.org/drawingml/2006/main">
            <a:off x="6772275" y="2047875"/>
            <a:ext cx="28575" cy="895350"/>
          </a:xfrm>
          <a:prstGeom xmlns:a="http://schemas.openxmlformats.org/drawingml/2006/main" prst="rect">
            <a:avLst/>
          </a:prstGeom>
          <a:solidFill xmlns:a="http://schemas.openxmlformats.org/drawingml/2006/main">
            <a:srgbClr val="E18D91"/>
          </a:solidFill>
          <a:ln xmlns:a="http://schemas.openxmlformats.org/drawingml/2006/main" w="0">
            <a:noFill/>
          </a:ln>
        </p:spPr>
      </p:sp>
      <p:sp>
        <p:nvSpPr>
          <p:cNvPr id="15" name="b1_text_34">
            <a:extLst xmlns:a="http://schemas.openxmlformats.org/drawingml/2006/main">
              <a:ext uri="{FF2B5EF4-FFF2-40B4-BE49-F238E27FC236}">
                <a16:creationId xmlns:a16="http://schemas.microsoft.com/office/drawing/2014/main" id="{9E584EE6-9BE6-4DF7-821D-E4E37E04EB49}"/>
              </a:ext>
            </a:extLst>
          </p:cNvPr>
          <p:cNvSpPr>
            <a:spLocks xmlns:a="http://schemas.openxmlformats.org/drawingml/2006/main" noGrp="1"/>
          </p:cNvSpPr>
          <p:nvPr/>
        </p:nvSpPr>
        <p:spPr>
          <a:xfrm xmlns:a="http://schemas.openxmlformats.org/drawingml/2006/main">
            <a:off x="7096125" y="215265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5F8FC"/>
                </a:solidFill>
                <a:latin typeface="Arial"/>
                <a:ea typeface="Arial"/>
                <a:cs typeface="Arial"/>
              </a:defRPr>
            </a:pPr>
            <a:r>
              <a:rPr sz="2700" b="1">
                <a:solidFill>
                  <a:srgbClr val="F5F8FC"/>
                </a:solidFill>
                <a:latin typeface="Arial"/>
                <a:ea typeface="Arial"/>
                <a:cs typeface="Arial"/>
              </a:rPr>
              <a:t>REVIEW / TRUST?</a:t>
            </a:r>
          </a:p>
        </p:txBody>
      </p:sp>
      <p:sp>
        <p:nvSpPr>
          <p:cNvPr id="16" name="b2_text_35">
            <a:extLst xmlns:a="http://schemas.openxmlformats.org/drawingml/2006/main">
              <a:ext uri="{FF2B5EF4-FFF2-40B4-BE49-F238E27FC236}">
                <a16:creationId xmlns:a16="http://schemas.microsoft.com/office/drawing/2014/main" id="{BF02D90D-A175-4565-BC3E-AD1CF485F32B}"/>
              </a:ext>
            </a:extLst>
          </p:cNvPr>
          <p:cNvSpPr>
            <a:spLocks xmlns:a="http://schemas.openxmlformats.org/drawingml/2006/main" noGrp="1"/>
          </p:cNvSpPr>
          <p:nvPr/>
        </p:nvSpPr>
        <p:spPr>
          <a:xfrm xmlns:a="http://schemas.openxmlformats.org/drawingml/2006/main">
            <a:off x="533400"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84%</a:t>
            </a:r>
          </a:p>
        </p:txBody>
      </p:sp>
      <p:sp>
        <p:nvSpPr>
          <p:cNvPr id="17" name="b2_text_36">
            <a:extLst xmlns:a="http://schemas.openxmlformats.org/drawingml/2006/main">
              <a:ext uri="{FF2B5EF4-FFF2-40B4-BE49-F238E27FC236}">
                <a16:creationId xmlns:a16="http://schemas.microsoft.com/office/drawing/2014/main" id="{9F571CD8-1F8E-46B2-8F90-3F14AA13A827}"/>
              </a:ext>
            </a:extLst>
          </p:cNvPr>
          <p:cNvSpPr>
            <a:spLocks xmlns:a="http://schemas.openxmlformats.org/drawingml/2006/main" noGrp="1"/>
          </p:cNvSpPr>
          <p:nvPr/>
        </p:nvSpPr>
        <p:spPr>
          <a:xfrm xmlns:a="http://schemas.openxmlformats.org/drawingml/2006/main">
            <a:off x="533400"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use or plan to use AI</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in development</a:t>
            </a:r>
          </a:p>
        </p:txBody>
      </p:sp>
      <p:sp>
        <p:nvSpPr>
          <p:cNvPr id="18" name="b2_text_37">
            <a:extLst xmlns:a="http://schemas.openxmlformats.org/drawingml/2006/main">
              <a:ext uri="{FF2B5EF4-FFF2-40B4-BE49-F238E27FC236}">
                <a16:creationId xmlns:a16="http://schemas.microsoft.com/office/drawing/2014/main" id="{ACB837CD-CF2F-4042-B086-004A56F97B54}"/>
              </a:ext>
            </a:extLst>
          </p:cNvPr>
          <p:cNvSpPr>
            <a:spLocks xmlns:a="http://schemas.openxmlformats.org/drawingml/2006/main" noGrp="1"/>
          </p:cNvSpPr>
          <p:nvPr/>
        </p:nvSpPr>
        <p:spPr>
          <a:xfrm xmlns:a="http://schemas.openxmlformats.org/drawingml/2006/main">
            <a:off x="4314825"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46%</a:t>
            </a:r>
          </a:p>
        </p:txBody>
      </p:sp>
      <p:sp>
        <p:nvSpPr>
          <p:cNvPr id="19" name="b2_text_38">
            <a:extLst xmlns:a="http://schemas.openxmlformats.org/drawingml/2006/main">
              <a:ext uri="{FF2B5EF4-FFF2-40B4-BE49-F238E27FC236}">
                <a16:creationId xmlns:a16="http://schemas.microsoft.com/office/drawing/2014/main" id="{B74A5790-06F6-41D4-AEF3-334671F9ED06}"/>
              </a:ext>
            </a:extLst>
          </p:cNvPr>
          <p:cNvSpPr>
            <a:spLocks xmlns:a="http://schemas.openxmlformats.org/drawingml/2006/main" noGrp="1"/>
          </p:cNvSpPr>
          <p:nvPr/>
        </p:nvSpPr>
        <p:spPr>
          <a:xfrm xmlns:a="http://schemas.openxmlformats.org/drawingml/2006/main">
            <a:off x="4314825"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distrust the accuracy</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of AI tool output</a:t>
            </a:r>
          </a:p>
        </p:txBody>
      </p:sp>
      <p:sp>
        <p:nvSpPr>
          <p:cNvPr id="20" name="b2_text_39">
            <a:extLst xmlns:a="http://schemas.openxmlformats.org/drawingml/2006/main">
              <a:ext uri="{FF2B5EF4-FFF2-40B4-BE49-F238E27FC236}">
                <a16:creationId xmlns:a16="http://schemas.microsoft.com/office/drawing/2014/main" id="{E0D001A3-1417-431E-A59E-C1DB4FD62068}"/>
              </a:ext>
            </a:extLst>
          </p:cNvPr>
          <p:cNvSpPr>
            <a:spLocks xmlns:a="http://schemas.openxmlformats.org/drawingml/2006/main" noGrp="1"/>
          </p:cNvSpPr>
          <p:nvPr/>
        </p:nvSpPr>
        <p:spPr>
          <a:xfrm xmlns:a="http://schemas.openxmlformats.org/drawingml/2006/main">
            <a:off x="8096250"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66%</a:t>
            </a:r>
          </a:p>
        </p:txBody>
      </p:sp>
      <p:sp>
        <p:nvSpPr>
          <p:cNvPr id="21" name="b2_text_40">
            <a:extLst xmlns:a="http://schemas.openxmlformats.org/drawingml/2006/main">
              <a:ext uri="{FF2B5EF4-FFF2-40B4-BE49-F238E27FC236}">
                <a16:creationId xmlns:a16="http://schemas.microsoft.com/office/drawing/2014/main" id="{7E0B78B7-46CF-452F-9BFF-BE0D72886548}"/>
              </a:ext>
            </a:extLst>
          </p:cNvPr>
          <p:cNvSpPr>
            <a:spLocks xmlns:a="http://schemas.openxmlformats.org/drawingml/2006/main" noGrp="1"/>
          </p:cNvSpPr>
          <p:nvPr/>
        </p:nvSpPr>
        <p:spPr>
          <a:xfrm xmlns:a="http://schemas.openxmlformats.org/drawingml/2006/main">
            <a:off x="8096250"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cite almost-right</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AI answers as a frustration</a:t>
            </a:r>
          </a:p>
        </p:txBody>
      </p:sp>
      <p:sp>
        <p:nvSpPr>
          <p:cNvPr id="22" name="b3_text_41">
            <a:extLst xmlns:a="http://schemas.openxmlformats.org/drawingml/2006/main">
              <a:ext uri="{FF2B5EF4-FFF2-40B4-BE49-F238E27FC236}">
                <a16:creationId xmlns:a16="http://schemas.microsoft.com/office/drawing/2014/main" id="{BE505FFF-56F4-4DB2-A4A5-0315DAECF578}"/>
              </a:ext>
            </a:extLst>
          </p:cNvPr>
          <p:cNvSpPr>
            <a:spLocks xmlns:a="http://schemas.openxmlformats.org/drawingml/2006/main" noGrp="1"/>
          </p:cNvSpPr>
          <p:nvPr/>
        </p:nvSpPr>
        <p:spPr>
          <a:xfrm xmlns:a="http://schemas.openxmlformats.org/drawingml/2006/main">
            <a:off x="533400" y="496252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WHO FEELS THE PRESSURE</a:t>
            </a:r>
          </a:p>
        </p:txBody>
      </p:sp>
      <p:sp>
        <p:nvSpPr>
          <p:cNvPr id="23" name="b3_text_42">
            <a:extLst xmlns:a="http://schemas.openxmlformats.org/drawingml/2006/main">
              <a:ext uri="{FF2B5EF4-FFF2-40B4-BE49-F238E27FC236}">
                <a16:creationId xmlns:a16="http://schemas.microsoft.com/office/drawing/2014/main" id="{78716A70-8A3A-49E6-A7A7-C24C10D2B6D1}"/>
              </a:ext>
            </a:extLst>
          </p:cNvPr>
          <p:cNvSpPr>
            <a:spLocks xmlns:a="http://schemas.openxmlformats.org/drawingml/2006/main" noGrp="1"/>
          </p:cNvSpPr>
          <p:nvPr/>
        </p:nvSpPr>
        <p:spPr>
          <a:xfrm xmlns:a="http://schemas.openxmlformats.org/drawingml/2006/main">
            <a:off x="533400" y="5257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DCADA"/>
                </a:solidFill>
                <a:latin typeface="Arial"/>
                <a:ea typeface="Arial"/>
                <a:cs typeface="Arial"/>
              </a:defRPr>
            </a:pPr>
            <a:r>
              <a:rPr sz="1800" b="0">
                <a:solidFill>
                  <a:srgbClr val="BDCADA"/>
                </a:solidFill>
                <a:latin typeface="Arial"/>
                <a:ea typeface="Arial"/>
                <a:cs typeface="Arial"/>
              </a:rPr>
              <a:t>Developers reviewing AI-generated PRs, startup CTOs and engineering leads with limited AppSec capacity.</a:t>
            </a:r>
          </a:p>
        </p:txBody>
      </p:sp>
      <p:sp>
        <p:nvSpPr>
          <p:cNvPr id="24" name="b3_text_43">
            <a:extLst xmlns:a="http://schemas.openxmlformats.org/drawingml/2006/main">
              <a:ext uri="{FF2B5EF4-FFF2-40B4-BE49-F238E27FC236}">
                <a16:creationId xmlns:a16="http://schemas.microsoft.com/office/drawing/2014/main" id="{EA345085-493E-484B-8B8C-4B0C02C638E7}"/>
              </a:ext>
            </a:extLst>
          </p:cNvPr>
          <p:cNvSpPr>
            <a:spLocks xmlns:a="http://schemas.openxmlformats.org/drawingml/2006/main" noGrp="1"/>
          </p:cNvSpPr>
          <p:nvPr/>
        </p:nvSpPr>
        <p:spPr>
          <a:xfrm xmlns:a="http://schemas.openxmlformats.org/drawingml/2006/main">
            <a:off x="533400" y="58674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Opportunity: one inspectable trust decision for each change</a:t>
            </a:r>
          </a:p>
        </p:txBody>
      </p:sp>
      <p:sp>
        <p:nvSpPr>
          <p:cNvPr id="25" name="b0_text_44">
            <a:extLst xmlns:a="http://schemas.openxmlformats.org/drawingml/2006/main">
              <a:ext uri="{FF2B5EF4-FFF2-40B4-BE49-F238E27FC236}">
                <a16:creationId xmlns:a16="http://schemas.microsoft.com/office/drawing/2014/main" id="{087A98A4-6E40-4FF0-A753-AA2F5934BB83}"/>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Source: Stack Overflow Developer Survey 2025, AI section. Self-reported responses to different questions.</a:t>
            </a:r>
          </a:p>
        </p:txBody>
      </p:sp>
    </p:spTree>
    <p:extLst>
      <p:ext uri="{BB962C8B-B14F-4D97-AF65-F5344CB8AC3E}">
        <p14:creationId xmlns:p14="http://schemas.microsoft.com/office/powerpoint/2010/main" val="68823567"/>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right)">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3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1" name="b0_text_45">
            <a:extLst xmlns:a="http://schemas.openxmlformats.org/drawingml/2006/main">
              <a:ext uri="{FF2B5EF4-FFF2-40B4-BE49-F238E27FC236}">
                <a16:creationId xmlns:a16="http://schemas.microsoft.com/office/drawing/2014/main" id="{3706FEC0-E42B-4EC1-827F-AD4BFFA21F26}"/>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03  /  EXISTING SOLUTIONS &amp; GAP ANALYSIS</a:t>
            </a:r>
          </a:p>
        </p:txBody>
      </p:sp>
      <p:sp>
        <p:nvSpPr>
          <p:cNvPr id="2" name="b0_headline_46">
            <a:extLst xmlns:a="http://schemas.openxmlformats.org/drawingml/2006/main">
              <a:ext uri="{FF2B5EF4-FFF2-40B4-BE49-F238E27FC236}">
                <a16:creationId xmlns:a16="http://schemas.microsoft.com/office/drawing/2014/main" id="{AEC3AA44-97DF-4895-9905-45AF8BD955BB}"/>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Useful tools. A fragmented trust decision.</a:t>
            </a:r>
          </a:p>
        </p:txBody>
      </p:sp>
      <p:sp>
        <p:nvSpPr>
          <p:cNvPr id="3" name="b0_flow_47">
            <a:extLst xmlns:a="http://schemas.openxmlformats.org/drawingml/2006/main">
              <a:ext uri="{FF2B5EF4-FFF2-40B4-BE49-F238E27FC236}">
                <a16:creationId xmlns:a16="http://schemas.microsoft.com/office/drawing/2014/main" id="{1BA2D073-1C82-42E8-A8CF-7A5FD57A257A}"/>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48">
            <a:extLst xmlns:a="http://schemas.openxmlformats.org/drawingml/2006/main">
              <a:ext uri="{FF2B5EF4-FFF2-40B4-BE49-F238E27FC236}">
                <a16:creationId xmlns:a16="http://schemas.microsoft.com/office/drawing/2014/main" id="{303EEAFE-2F08-4F54-B8F6-441ED05573D2}"/>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49">
            <a:extLst xmlns:a="http://schemas.openxmlformats.org/drawingml/2006/main">
              <a:ext uri="{FF2B5EF4-FFF2-40B4-BE49-F238E27FC236}">
                <a16:creationId xmlns:a16="http://schemas.microsoft.com/office/drawing/2014/main" id="{76EF24D1-3B9B-44DC-9679-78555E63FF65}"/>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03</a:t>
            </a:r>
          </a:p>
        </p:txBody>
      </p:sp>
      <p:sp>
        <p:nvSpPr>
          <p:cNvPr id="6" name="b1_flow_50">
            <a:extLst xmlns:a="http://schemas.openxmlformats.org/drawingml/2006/main">
              <a:ext uri="{FF2B5EF4-FFF2-40B4-BE49-F238E27FC236}">
                <a16:creationId xmlns:a16="http://schemas.microsoft.com/office/drawing/2014/main" id="{872ABC07-C230-45DB-8630-B0888357DF5C}"/>
              </a:ext>
            </a:extLst>
          </p:cNvPr>
          <p:cNvSpPr>
            <a:spLocks xmlns:a="http://schemas.openxmlformats.org/drawingml/2006/main" noGrp="1"/>
          </p:cNvSpPr>
          <p:nvPr/>
        </p:nvSpPr>
        <p:spPr>
          <a:xfrm xmlns:a="http://schemas.openxmlformats.org/drawingml/2006/main">
            <a:off x="53340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7" name="b1_text_51">
            <a:extLst xmlns:a="http://schemas.openxmlformats.org/drawingml/2006/main">
              <a:ext uri="{FF2B5EF4-FFF2-40B4-BE49-F238E27FC236}">
                <a16:creationId xmlns:a16="http://schemas.microsoft.com/office/drawing/2014/main" id="{134B7DC2-E6B2-4508-B99E-FE6B79F13012}"/>
              </a:ext>
            </a:extLst>
          </p:cNvPr>
          <p:cNvSpPr>
            <a:spLocks xmlns:a="http://schemas.openxmlformats.org/drawingml/2006/main" noGrp="1"/>
          </p:cNvSpPr>
          <p:nvPr/>
        </p:nvSpPr>
        <p:spPr>
          <a:xfrm xmlns:a="http://schemas.openxmlformats.org/drawingml/2006/main">
            <a:off x="53340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Coding agents</a:t>
            </a:r>
          </a:p>
        </p:txBody>
      </p:sp>
      <p:sp>
        <p:nvSpPr>
          <p:cNvPr id="8" name="b1_text_52">
            <a:extLst xmlns:a="http://schemas.openxmlformats.org/drawingml/2006/main">
              <a:ext uri="{FF2B5EF4-FFF2-40B4-BE49-F238E27FC236}">
                <a16:creationId xmlns:a16="http://schemas.microsoft.com/office/drawing/2014/main" id="{A9C52D57-DE65-47DD-A4DA-0DA21A99A2B5}"/>
              </a:ext>
            </a:extLst>
          </p:cNvPr>
          <p:cNvSpPr>
            <a:spLocks xmlns:a="http://schemas.openxmlformats.org/drawingml/2006/main" noGrp="1"/>
          </p:cNvSpPr>
          <p:nvPr/>
        </p:nvSpPr>
        <p:spPr>
          <a:xfrm xmlns:a="http://schemas.openxmlformats.org/drawingml/2006/main">
            <a:off x="53340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Generate, explain and</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suggest changes</a:t>
            </a:r>
          </a:p>
        </p:txBody>
      </p:sp>
      <p:sp>
        <p:nvSpPr>
          <p:cNvPr id="9" name="b1_flow_53">
            <a:extLst xmlns:a="http://schemas.openxmlformats.org/drawingml/2006/main">
              <a:ext uri="{FF2B5EF4-FFF2-40B4-BE49-F238E27FC236}">
                <a16:creationId xmlns:a16="http://schemas.microsoft.com/office/drawing/2014/main" id="{7514E1B7-A8B6-4FB4-868E-557A54DDF305}"/>
              </a:ext>
            </a:extLst>
          </p:cNvPr>
          <p:cNvSpPr>
            <a:spLocks xmlns:a="http://schemas.openxmlformats.org/drawingml/2006/main" noGrp="1"/>
          </p:cNvSpPr>
          <p:nvPr/>
        </p:nvSpPr>
        <p:spPr>
          <a:xfrm xmlns:a="http://schemas.openxmlformats.org/drawingml/2006/main">
            <a:off x="337185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0" name="b1_text_54">
            <a:extLst xmlns:a="http://schemas.openxmlformats.org/drawingml/2006/main">
              <a:ext uri="{FF2B5EF4-FFF2-40B4-BE49-F238E27FC236}">
                <a16:creationId xmlns:a16="http://schemas.microsoft.com/office/drawing/2014/main" id="{D05FDEF0-A701-415F-99B7-66254DC7A86B}"/>
              </a:ext>
            </a:extLst>
          </p:cNvPr>
          <p:cNvSpPr>
            <a:spLocks xmlns:a="http://schemas.openxmlformats.org/drawingml/2006/main" noGrp="1"/>
          </p:cNvSpPr>
          <p:nvPr/>
        </p:nvSpPr>
        <p:spPr>
          <a:xfrm xmlns:a="http://schemas.openxmlformats.org/drawingml/2006/main">
            <a:off x="337185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Security scanners</a:t>
            </a:r>
          </a:p>
        </p:txBody>
      </p:sp>
      <p:sp>
        <p:nvSpPr>
          <p:cNvPr id="11" name="b1_text_55">
            <a:extLst xmlns:a="http://schemas.openxmlformats.org/drawingml/2006/main">
              <a:ext uri="{FF2B5EF4-FFF2-40B4-BE49-F238E27FC236}">
                <a16:creationId xmlns:a16="http://schemas.microsoft.com/office/drawing/2014/main" id="{F8A04CC3-7F83-4338-BB7A-7978F79EF385}"/>
              </a:ext>
            </a:extLst>
          </p:cNvPr>
          <p:cNvSpPr>
            <a:spLocks xmlns:a="http://schemas.openxmlformats.org/drawingml/2006/main" noGrp="1"/>
          </p:cNvSpPr>
          <p:nvPr/>
        </p:nvSpPr>
        <p:spPr>
          <a:xfrm xmlns:a="http://schemas.openxmlformats.org/drawingml/2006/main">
            <a:off x="337185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Find risky patterns</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and dependencies</a:t>
            </a:r>
          </a:p>
        </p:txBody>
      </p:sp>
      <p:sp>
        <p:nvSpPr>
          <p:cNvPr id="12" name="b1_flow_56">
            <a:extLst xmlns:a="http://schemas.openxmlformats.org/drawingml/2006/main">
              <a:ext uri="{FF2B5EF4-FFF2-40B4-BE49-F238E27FC236}">
                <a16:creationId xmlns:a16="http://schemas.microsoft.com/office/drawing/2014/main" id="{3C6258A4-4CD7-43E6-B8D3-ECDF07406150}"/>
              </a:ext>
            </a:extLst>
          </p:cNvPr>
          <p:cNvSpPr>
            <a:spLocks xmlns:a="http://schemas.openxmlformats.org/drawingml/2006/main" noGrp="1"/>
          </p:cNvSpPr>
          <p:nvPr/>
        </p:nvSpPr>
        <p:spPr>
          <a:xfrm xmlns:a="http://schemas.openxmlformats.org/drawingml/2006/main">
            <a:off x="621030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3" name="b1_text_57">
            <a:extLst xmlns:a="http://schemas.openxmlformats.org/drawingml/2006/main">
              <a:ext uri="{FF2B5EF4-FFF2-40B4-BE49-F238E27FC236}">
                <a16:creationId xmlns:a16="http://schemas.microsoft.com/office/drawing/2014/main" id="{FC93EFD9-10E1-45F7-A503-BD31C74DB257}"/>
              </a:ext>
            </a:extLst>
          </p:cNvPr>
          <p:cNvSpPr>
            <a:spLocks xmlns:a="http://schemas.openxmlformats.org/drawingml/2006/main" noGrp="1"/>
          </p:cNvSpPr>
          <p:nvPr/>
        </p:nvSpPr>
        <p:spPr>
          <a:xfrm xmlns:a="http://schemas.openxmlformats.org/drawingml/2006/main">
            <a:off x="621030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CI/CD testing</a:t>
            </a:r>
          </a:p>
        </p:txBody>
      </p:sp>
      <p:sp>
        <p:nvSpPr>
          <p:cNvPr id="14" name="b1_text_58">
            <a:extLst xmlns:a="http://schemas.openxmlformats.org/drawingml/2006/main">
              <a:ext uri="{FF2B5EF4-FFF2-40B4-BE49-F238E27FC236}">
                <a16:creationId xmlns:a16="http://schemas.microsoft.com/office/drawing/2014/main" id="{E579757A-0EF2-4938-8632-584C9AF253AF}"/>
              </a:ext>
            </a:extLst>
          </p:cNvPr>
          <p:cNvSpPr>
            <a:spLocks xmlns:a="http://schemas.openxmlformats.org/drawingml/2006/main" noGrp="1"/>
          </p:cNvSpPr>
          <p:nvPr/>
        </p:nvSpPr>
        <p:spPr>
          <a:xfrm xmlns:a="http://schemas.openxmlformats.org/drawingml/2006/main">
            <a:off x="621030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Build, test and</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control release</a:t>
            </a:r>
          </a:p>
        </p:txBody>
      </p:sp>
      <p:sp>
        <p:nvSpPr>
          <p:cNvPr id="15" name="b1_flow_59">
            <a:extLst xmlns:a="http://schemas.openxmlformats.org/drawingml/2006/main">
              <a:ext uri="{FF2B5EF4-FFF2-40B4-BE49-F238E27FC236}">
                <a16:creationId xmlns:a16="http://schemas.microsoft.com/office/drawing/2014/main" id="{A07577E3-BFA7-4777-9C82-958A988DB693}"/>
              </a:ext>
            </a:extLst>
          </p:cNvPr>
          <p:cNvSpPr>
            <a:spLocks xmlns:a="http://schemas.openxmlformats.org/drawingml/2006/main" noGrp="1"/>
          </p:cNvSpPr>
          <p:nvPr/>
        </p:nvSpPr>
        <p:spPr>
          <a:xfrm xmlns:a="http://schemas.openxmlformats.org/drawingml/2006/main">
            <a:off x="904875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6" name="b1_text_60">
            <a:extLst xmlns:a="http://schemas.openxmlformats.org/drawingml/2006/main">
              <a:ext uri="{FF2B5EF4-FFF2-40B4-BE49-F238E27FC236}">
                <a16:creationId xmlns:a16="http://schemas.microsoft.com/office/drawing/2014/main" id="{ED0A7328-840F-4A0E-8A5D-454CA09D03B4}"/>
              </a:ext>
            </a:extLst>
          </p:cNvPr>
          <p:cNvSpPr>
            <a:spLocks xmlns:a="http://schemas.openxmlformats.org/drawingml/2006/main" noGrp="1"/>
          </p:cNvSpPr>
          <p:nvPr/>
        </p:nvSpPr>
        <p:spPr>
          <a:xfrm xmlns:a="http://schemas.openxmlformats.org/drawingml/2006/main">
            <a:off x="904875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Observability</a:t>
            </a:r>
          </a:p>
        </p:txBody>
      </p:sp>
      <p:sp>
        <p:nvSpPr>
          <p:cNvPr id="17" name="b1_text_61">
            <a:extLst xmlns:a="http://schemas.openxmlformats.org/drawingml/2006/main">
              <a:ext uri="{FF2B5EF4-FFF2-40B4-BE49-F238E27FC236}">
                <a16:creationId xmlns:a16="http://schemas.microsoft.com/office/drawing/2014/main" id="{D905FA46-22F5-4E6C-B6EE-4201335C0975}"/>
              </a:ext>
            </a:extLst>
          </p:cNvPr>
          <p:cNvSpPr>
            <a:spLocks xmlns:a="http://schemas.openxmlformats.org/drawingml/2006/main" noGrp="1"/>
          </p:cNvSpPr>
          <p:nvPr/>
        </p:nvSpPr>
        <p:spPr>
          <a:xfrm xmlns:a="http://schemas.openxmlformats.org/drawingml/2006/main">
            <a:off x="904875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Collect runtime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telemetry</a:t>
            </a:r>
          </a:p>
        </p:txBody>
      </p:sp>
      <p:sp>
        <p:nvSpPr>
          <p:cNvPr id="18" name="b2_text_62">
            <a:extLst xmlns:a="http://schemas.openxmlformats.org/drawingml/2006/main">
              <a:ext uri="{FF2B5EF4-FFF2-40B4-BE49-F238E27FC236}">
                <a16:creationId xmlns:a16="http://schemas.microsoft.com/office/drawing/2014/main" id="{E637D96C-8A9F-4C2C-BBBC-449DDC55146C}"/>
              </a:ext>
            </a:extLst>
          </p:cNvPr>
          <p:cNvSpPr>
            <a:spLocks xmlns:a="http://schemas.openxmlformats.org/drawingml/2006/main" noGrp="1"/>
          </p:cNvSpPr>
          <p:nvPr/>
        </p:nvSpPr>
        <p:spPr>
          <a:xfrm xmlns:a="http://schemas.openxmlformats.org/drawingml/2006/main">
            <a:off x="53340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Output still needs checks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against project intent</a:t>
            </a:r>
          </a:p>
        </p:txBody>
      </p:sp>
      <p:sp>
        <p:nvSpPr>
          <p:cNvPr id="19" name="b2_flow_63">
            <a:extLst xmlns:a="http://schemas.openxmlformats.org/drawingml/2006/main">
              <a:ext uri="{FF2B5EF4-FFF2-40B4-BE49-F238E27FC236}">
                <a16:creationId xmlns:a16="http://schemas.microsoft.com/office/drawing/2014/main" id="{7BE4DA67-60CC-4C84-809A-A75BE5E62848}"/>
              </a:ext>
            </a:extLst>
          </p:cNvPr>
          <p:cNvSpPr>
            <a:spLocks xmlns:a="http://schemas.openxmlformats.org/drawingml/2006/main" noGrp="1"/>
          </p:cNvSpPr>
          <p:nvPr/>
        </p:nvSpPr>
        <p:spPr>
          <a:xfrm xmlns:a="http://schemas.openxmlformats.org/drawingml/2006/main">
            <a:off x="183832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0" name="b2_text_64">
            <a:extLst xmlns:a="http://schemas.openxmlformats.org/drawingml/2006/main">
              <a:ext uri="{FF2B5EF4-FFF2-40B4-BE49-F238E27FC236}">
                <a16:creationId xmlns:a16="http://schemas.microsoft.com/office/drawing/2014/main" id="{9DC6D2BF-22CA-4340-9087-633DECFD49F2}"/>
              </a:ext>
            </a:extLst>
          </p:cNvPr>
          <p:cNvSpPr>
            <a:spLocks xmlns:a="http://schemas.openxmlformats.org/drawingml/2006/main" noGrp="1"/>
          </p:cNvSpPr>
          <p:nvPr/>
        </p:nvSpPr>
        <p:spPr>
          <a:xfrm xmlns:a="http://schemas.openxmlformats.org/drawingml/2006/main">
            <a:off x="337185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Findings may need</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context and human triage</a:t>
            </a:r>
          </a:p>
        </p:txBody>
      </p:sp>
      <p:sp>
        <p:nvSpPr>
          <p:cNvPr id="21" name="b2_flow_65">
            <a:extLst xmlns:a="http://schemas.openxmlformats.org/drawingml/2006/main">
              <a:ext uri="{FF2B5EF4-FFF2-40B4-BE49-F238E27FC236}">
                <a16:creationId xmlns:a16="http://schemas.microsoft.com/office/drawing/2014/main" id="{F72E029B-1B25-4F37-98C8-396783ED4D45}"/>
              </a:ext>
            </a:extLst>
          </p:cNvPr>
          <p:cNvSpPr>
            <a:spLocks xmlns:a="http://schemas.openxmlformats.org/drawingml/2006/main" noGrp="1"/>
          </p:cNvSpPr>
          <p:nvPr/>
        </p:nvSpPr>
        <p:spPr>
          <a:xfrm xmlns:a="http://schemas.openxmlformats.org/drawingml/2006/main">
            <a:off x="467677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2" name="b2_text_66">
            <a:extLst xmlns:a="http://schemas.openxmlformats.org/drawingml/2006/main">
              <a:ext uri="{FF2B5EF4-FFF2-40B4-BE49-F238E27FC236}">
                <a16:creationId xmlns:a16="http://schemas.microsoft.com/office/drawing/2014/main" id="{11E1C58F-F006-4205-94B4-75C18ED77D86}"/>
              </a:ext>
            </a:extLst>
          </p:cNvPr>
          <p:cNvSpPr>
            <a:spLocks xmlns:a="http://schemas.openxmlformats.org/drawingml/2006/main" noGrp="1"/>
          </p:cNvSpPr>
          <p:nvPr/>
        </p:nvSpPr>
        <p:spPr>
          <a:xfrm xmlns:a="http://schemas.openxmlformats.org/drawingml/2006/main">
            <a:off x="621030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Coverage depends on</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the checks teams define</a:t>
            </a:r>
          </a:p>
        </p:txBody>
      </p:sp>
      <p:sp>
        <p:nvSpPr>
          <p:cNvPr id="23" name="b2_flow_67">
            <a:extLst xmlns:a="http://schemas.openxmlformats.org/drawingml/2006/main">
              <a:ext uri="{FF2B5EF4-FFF2-40B4-BE49-F238E27FC236}">
                <a16:creationId xmlns:a16="http://schemas.microsoft.com/office/drawing/2014/main" id="{D6A6207F-B2DA-4F6F-A960-452E463A5CAD}"/>
              </a:ext>
            </a:extLst>
          </p:cNvPr>
          <p:cNvSpPr>
            <a:spLocks xmlns:a="http://schemas.openxmlformats.org/drawingml/2006/main" noGrp="1"/>
          </p:cNvSpPr>
          <p:nvPr/>
        </p:nvSpPr>
        <p:spPr>
          <a:xfrm xmlns:a="http://schemas.openxmlformats.org/drawingml/2006/main">
            <a:off x="751522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4" name="b2_text_68">
            <a:extLst xmlns:a="http://schemas.openxmlformats.org/drawingml/2006/main">
              <a:ext uri="{FF2B5EF4-FFF2-40B4-BE49-F238E27FC236}">
                <a16:creationId xmlns:a16="http://schemas.microsoft.com/office/drawing/2014/main" id="{18C3FDD0-859A-40FC-AF3F-9AB9E8207A67}"/>
              </a:ext>
            </a:extLst>
          </p:cNvPr>
          <p:cNvSpPr>
            <a:spLocks xmlns:a="http://schemas.openxmlformats.org/drawingml/2006/main" noGrp="1"/>
          </p:cNvSpPr>
          <p:nvPr/>
        </p:nvSpPr>
        <p:spPr>
          <a:xfrm xmlns:a="http://schemas.openxmlformats.org/drawingml/2006/main">
            <a:off x="904875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Runtime signals may lack</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change-level context</a:t>
            </a:r>
          </a:p>
        </p:txBody>
      </p:sp>
      <p:sp>
        <p:nvSpPr>
          <p:cNvPr id="25" name="b2_flow_69">
            <a:extLst xmlns:a="http://schemas.openxmlformats.org/drawingml/2006/main">
              <a:ext uri="{FF2B5EF4-FFF2-40B4-BE49-F238E27FC236}">
                <a16:creationId xmlns:a16="http://schemas.microsoft.com/office/drawing/2014/main" id="{ABCCADC4-8E00-4086-9F6C-6909F22F62B3}"/>
              </a:ext>
            </a:extLst>
          </p:cNvPr>
          <p:cNvSpPr>
            <a:spLocks xmlns:a="http://schemas.openxmlformats.org/drawingml/2006/main" noGrp="1"/>
          </p:cNvSpPr>
          <p:nvPr/>
        </p:nvSpPr>
        <p:spPr>
          <a:xfrm xmlns:a="http://schemas.openxmlformats.org/drawingml/2006/main">
            <a:off x="1035367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6" name="b3_flow_70">
            <a:extLst xmlns:a="http://schemas.openxmlformats.org/drawingml/2006/main">
              <a:ext uri="{FF2B5EF4-FFF2-40B4-BE49-F238E27FC236}">
                <a16:creationId xmlns:a16="http://schemas.microsoft.com/office/drawing/2014/main" id="{6124AF23-5288-4789-80EE-64D848FC3F5A}"/>
              </a:ext>
            </a:extLst>
          </p:cNvPr>
          <p:cNvSpPr>
            <a:spLocks xmlns:a="http://schemas.openxmlformats.org/drawingml/2006/main" noGrp="1"/>
          </p:cNvSpPr>
          <p:nvPr/>
        </p:nvSpPr>
        <p:spPr>
          <a:xfrm xmlns:a="http://schemas.openxmlformats.org/drawingml/2006/main">
            <a:off x="1838325" y="4867275"/>
            <a:ext cx="851535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7" name="b3_flow_71">
            <a:extLst xmlns:a="http://schemas.openxmlformats.org/drawingml/2006/main">
              <a:ext uri="{FF2B5EF4-FFF2-40B4-BE49-F238E27FC236}">
                <a16:creationId xmlns:a16="http://schemas.microsoft.com/office/drawing/2014/main" id="{F81331ED-F880-493E-A027-E2C379C09811}"/>
              </a:ext>
            </a:extLst>
          </p:cNvPr>
          <p:cNvSpPr>
            <a:spLocks xmlns:a="http://schemas.openxmlformats.org/drawingml/2006/main" noGrp="1"/>
          </p:cNvSpPr>
          <p:nvPr/>
        </p:nvSpPr>
        <p:spPr>
          <a:xfrm xmlns:a="http://schemas.openxmlformats.org/drawingml/2006/main">
            <a:off x="6076950" y="4876800"/>
            <a:ext cx="19050" cy="2952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8" name="b3_decision_72">
            <a:extLst xmlns:a="http://schemas.openxmlformats.org/drawingml/2006/main">
              <a:ext uri="{FF2B5EF4-FFF2-40B4-BE49-F238E27FC236}">
                <a16:creationId xmlns:a16="http://schemas.microsoft.com/office/drawing/2014/main" id="{BA2138CB-D4EA-46B9-8595-68614F008DAB}"/>
              </a:ext>
            </a:extLst>
          </p:cNvPr>
          <p:cNvSpPr>
            <a:spLocks xmlns:a="http://schemas.openxmlformats.org/drawingml/2006/main" noGrp="1"/>
          </p:cNvSpPr>
          <p:nvPr/>
        </p:nvSpPr>
        <p:spPr>
          <a:xfrm xmlns:a="http://schemas.openxmlformats.org/drawingml/2006/main">
            <a:off x="3476625" y="52006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52D5F2"/>
                </a:solidFill>
                <a:latin typeface="Arial"/>
                <a:ea typeface="Arial"/>
                <a:cs typeface="Arial"/>
              </a:defRPr>
            </a:pPr>
            <a:r>
              <a:rPr sz="2100" b="1">
                <a:solidFill>
                  <a:srgbClr val="52D5F2"/>
                </a:solidFill>
                <a:latin typeface="Arial"/>
                <a:ea typeface="Arial"/>
                <a:cs typeface="Arial"/>
              </a:rPr>
              <a:t>TRUST DECISION</a:t>
            </a:r>
          </a:p>
        </p:txBody>
      </p:sp>
      <p:sp>
        <p:nvSpPr>
          <p:cNvPr id="29" name="b3_text_73">
            <a:extLst xmlns:a="http://schemas.openxmlformats.org/drawingml/2006/main">
              <a:ext uri="{FF2B5EF4-FFF2-40B4-BE49-F238E27FC236}">
                <a16:creationId xmlns:a16="http://schemas.microsoft.com/office/drawing/2014/main" id="{0C7BD727-38DA-4D7D-B211-9F8AFC53D10D}"/>
              </a:ext>
            </a:extLst>
          </p:cNvPr>
          <p:cNvSpPr>
            <a:spLocks xmlns:a="http://schemas.openxmlformats.org/drawingml/2006/main" noGrp="1"/>
          </p:cNvSpPr>
          <p:nvPr/>
        </p:nvSpPr>
        <p:spPr>
          <a:xfrm xmlns:a="http://schemas.openxmlformats.org/drawingml/2006/main">
            <a:off x="533400" y="58007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Proposed unmet need: a private assurance layer before release</a:t>
            </a:r>
          </a:p>
        </p:txBody>
      </p:sp>
      <p:sp>
        <p:nvSpPr>
          <p:cNvPr id="30" name="b0_text_74">
            <a:extLst xmlns:a="http://schemas.openxmlformats.org/drawingml/2006/main">
              <a:ext uri="{FF2B5EF4-FFF2-40B4-BE49-F238E27FC236}">
                <a16:creationId xmlns:a16="http://schemas.microsoft.com/office/drawing/2014/main" id="{76816723-3F0D-4AC1-A79A-945F79A79BC2}"/>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Sources: GitHub Copilot, Code Scanning and Actions documentation; OpenTelemetry overview. Links in notes.</a:t>
            </a:r>
          </a:p>
        </p:txBody>
      </p:sp>
    </p:spTree>
    <p:extLst>
      <p:ext uri="{BB962C8B-B14F-4D97-AF65-F5344CB8AC3E}">
        <p14:creationId xmlns:p14="http://schemas.microsoft.com/office/powerpoint/2010/main" val="189993534"/>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35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35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right)">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00"/>
                                        <p:tgtEl>
                                          <p:spTgt spid="20"/>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right)">
                                      <p:cBhvr>
                                        <p:cTn id="54" dur="35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300"/>
                                        <p:tgtEl>
                                          <p:spTgt spid="22"/>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right)">
                                      <p:cBhvr>
                                        <p:cTn id="60" dur="3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00"/>
                                        <p:tgtEl>
                                          <p:spTgt spid="24"/>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right)">
                                      <p:cBhvr>
                                        <p:cTn id="66" dur="35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right)">
                                      <p:cBhvr>
                                        <p:cTn id="71" dur="350"/>
                                        <p:tgtEl>
                                          <p:spTgt spid="26"/>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right)">
                                      <p:cBhvr>
                                        <p:cTn id="74" dur="35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3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41" name="b0_text_75">
            <a:extLst xmlns:a="http://schemas.openxmlformats.org/drawingml/2006/main">
              <a:ext uri="{FF2B5EF4-FFF2-40B4-BE49-F238E27FC236}">
                <a16:creationId xmlns:a16="http://schemas.microsoft.com/office/drawing/2014/main" id="{FA99EB90-2FB3-4B30-95FC-1A4A9AE0F35A}"/>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04  /  OUR SOLUTION</a:t>
            </a:r>
          </a:p>
        </p:txBody>
      </p:sp>
      <p:sp>
        <p:nvSpPr>
          <p:cNvPr id="2" name="b0_headline_76">
            <a:extLst xmlns:a="http://schemas.openxmlformats.org/drawingml/2006/main">
              <a:ext uri="{FF2B5EF4-FFF2-40B4-BE49-F238E27FC236}">
                <a16:creationId xmlns:a16="http://schemas.microsoft.com/office/drawing/2014/main" id="{A1B8D47F-D746-4CB4-B2FD-D3785A18E3D3}"/>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Evidence before trust</a:t>
            </a:r>
          </a:p>
        </p:txBody>
      </p:sp>
      <p:sp>
        <p:nvSpPr>
          <p:cNvPr id="3" name="b0_flow_77">
            <a:extLst xmlns:a="http://schemas.openxmlformats.org/drawingml/2006/main">
              <a:ext uri="{FF2B5EF4-FFF2-40B4-BE49-F238E27FC236}">
                <a16:creationId xmlns:a16="http://schemas.microsoft.com/office/drawing/2014/main" id="{B552CCA1-0D8B-4E30-89FB-AE75ABE63730}"/>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78">
            <a:extLst xmlns:a="http://schemas.openxmlformats.org/drawingml/2006/main">
              <a:ext uri="{FF2B5EF4-FFF2-40B4-BE49-F238E27FC236}">
                <a16:creationId xmlns:a16="http://schemas.microsoft.com/office/drawing/2014/main" id="{2FFA2B60-3B69-4C3B-9EA0-ECB5E028AEE8}"/>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79">
            <a:extLst xmlns:a="http://schemas.openxmlformats.org/drawingml/2006/main">
              <a:ext uri="{FF2B5EF4-FFF2-40B4-BE49-F238E27FC236}">
                <a16:creationId xmlns:a16="http://schemas.microsoft.com/office/drawing/2014/main" id="{D37C526C-3A8E-40E4-9864-51080BF594DF}"/>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04</a:t>
            </a:r>
          </a:p>
        </p:txBody>
      </p:sp>
      <p:sp>
        <p:nvSpPr>
          <p:cNvPr id="6" name="b0_text_80">
            <a:extLst xmlns:a="http://schemas.openxmlformats.org/drawingml/2006/main">
              <a:ext uri="{FF2B5EF4-FFF2-40B4-BE49-F238E27FC236}">
                <a16:creationId xmlns:a16="http://schemas.microsoft.com/office/drawing/2014/main" id="{D79BD739-B070-4F52-94DF-C75BFCADBA33}"/>
              </a:ext>
            </a:extLst>
          </p:cNvPr>
          <p:cNvSpPr>
            <a:spLocks xmlns:a="http://schemas.openxmlformats.org/drawingml/2006/main" noGrp="1"/>
          </p:cNvSpPr>
          <p:nvPr/>
        </p:nvSpPr>
        <p:spPr>
          <a:xfrm xmlns:a="http://schemas.openxmlformats.org/drawingml/2006/main">
            <a:off x="533400" y="1809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AVANTA TRUST LOOP</a:t>
            </a:r>
          </a:p>
        </p:txBody>
      </p:sp>
      <p:sp>
        <p:nvSpPr>
          <p:cNvPr id="7" name="b1_flow_81">
            <a:extLst xmlns:a="http://schemas.openxmlformats.org/drawingml/2006/main">
              <a:ext uri="{FF2B5EF4-FFF2-40B4-BE49-F238E27FC236}">
                <a16:creationId xmlns:a16="http://schemas.microsoft.com/office/drawing/2014/main" id="{097CA610-0EDB-4BA0-AAEA-CEB5CC460D8C}"/>
              </a:ext>
            </a:extLst>
          </p:cNvPr>
          <p:cNvSpPr>
            <a:spLocks xmlns:a="http://schemas.openxmlformats.org/drawingml/2006/main" noGrp="1"/>
          </p:cNvSpPr>
          <p:nvPr/>
        </p:nvSpPr>
        <p:spPr>
          <a:xfrm xmlns:a="http://schemas.openxmlformats.org/drawingml/2006/main">
            <a:off x="53340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text_82">
            <a:extLst xmlns:a="http://schemas.openxmlformats.org/drawingml/2006/main">
              <a:ext uri="{FF2B5EF4-FFF2-40B4-BE49-F238E27FC236}">
                <a16:creationId xmlns:a16="http://schemas.microsoft.com/office/drawing/2014/main" id="{9E443E78-5A54-4C90-A902-4F95696774FF}"/>
              </a:ext>
            </a:extLst>
          </p:cNvPr>
          <p:cNvSpPr>
            <a:spLocks xmlns:a="http://schemas.openxmlformats.org/drawingml/2006/main" noGrp="1"/>
          </p:cNvSpPr>
          <p:nvPr/>
        </p:nvSpPr>
        <p:spPr>
          <a:xfrm xmlns:a="http://schemas.openxmlformats.org/drawingml/2006/main">
            <a:off x="53340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01</a:t>
            </a:r>
          </a:p>
        </p:txBody>
      </p:sp>
      <p:sp>
        <p:nvSpPr>
          <p:cNvPr id="9" name="b1_text_83">
            <a:extLst xmlns:a="http://schemas.openxmlformats.org/drawingml/2006/main">
              <a:ext uri="{FF2B5EF4-FFF2-40B4-BE49-F238E27FC236}">
                <a16:creationId xmlns:a16="http://schemas.microsoft.com/office/drawing/2014/main" id="{159D4F8E-5AF6-4AA0-8703-B47F6967FB5A}"/>
              </a:ext>
            </a:extLst>
          </p:cNvPr>
          <p:cNvSpPr>
            <a:spLocks xmlns:a="http://schemas.openxmlformats.org/drawingml/2006/main" noGrp="1"/>
          </p:cNvSpPr>
          <p:nvPr/>
        </p:nvSpPr>
        <p:spPr>
          <a:xfrm xmlns:a="http://schemas.openxmlformats.org/drawingml/2006/main">
            <a:off x="53340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OBSERVE</a:t>
            </a:r>
          </a:p>
        </p:txBody>
      </p:sp>
      <p:sp>
        <p:nvSpPr>
          <p:cNvPr id="10" name="b1_text_84">
            <a:extLst xmlns:a="http://schemas.openxmlformats.org/drawingml/2006/main">
              <a:ext uri="{FF2B5EF4-FFF2-40B4-BE49-F238E27FC236}">
                <a16:creationId xmlns:a16="http://schemas.microsoft.com/office/drawing/2014/main" id="{1DD392D9-40B2-47C6-A429-CDA2FD67ACA2}"/>
              </a:ext>
            </a:extLst>
          </p:cNvPr>
          <p:cNvSpPr>
            <a:spLocks xmlns:a="http://schemas.openxmlformats.org/drawingml/2006/main" noGrp="1"/>
          </p:cNvSpPr>
          <p:nvPr/>
        </p:nvSpPr>
        <p:spPr>
          <a:xfrm xmlns:a="http://schemas.openxmlformats.org/drawingml/2006/main">
            <a:off x="53340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Code, dependencies</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change signals</a:t>
            </a:r>
          </a:p>
        </p:txBody>
      </p:sp>
      <p:sp>
        <p:nvSpPr>
          <p:cNvPr id="11" name="b1_flow_85">
            <a:extLst xmlns:a="http://schemas.openxmlformats.org/drawingml/2006/main">
              <a:ext uri="{FF2B5EF4-FFF2-40B4-BE49-F238E27FC236}">
                <a16:creationId xmlns:a16="http://schemas.microsoft.com/office/drawing/2014/main" id="{5AB59787-99CA-48CC-80E1-4EA3B831994B}"/>
              </a:ext>
            </a:extLst>
          </p:cNvPr>
          <p:cNvSpPr>
            <a:spLocks xmlns:a="http://schemas.openxmlformats.org/drawingml/2006/main" noGrp="1"/>
          </p:cNvSpPr>
          <p:nvPr/>
        </p:nvSpPr>
        <p:spPr>
          <a:xfrm xmlns:a="http://schemas.openxmlformats.org/drawingml/2006/main">
            <a:off x="221932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2" name="b2_flow_86">
            <a:extLst xmlns:a="http://schemas.openxmlformats.org/drawingml/2006/main">
              <a:ext uri="{FF2B5EF4-FFF2-40B4-BE49-F238E27FC236}">
                <a16:creationId xmlns:a16="http://schemas.microsoft.com/office/drawing/2014/main" id="{EFAB7798-CFF6-4CC0-8D34-E968B86125E7}"/>
              </a:ext>
            </a:extLst>
          </p:cNvPr>
          <p:cNvSpPr>
            <a:spLocks xmlns:a="http://schemas.openxmlformats.org/drawingml/2006/main" noGrp="1"/>
          </p:cNvSpPr>
          <p:nvPr/>
        </p:nvSpPr>
        <p:spPr>
          <a:xfrm xmlns:a="http://schemas.openxmlformats.org/drawingml/2006/main">
            <a:off x="240982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3" name="b2_text_87">
            <a:extLst xmlns:a="http://schemas.openxmlformats.org/drawingml/2006/main">
              <a:ext uri="{FF2B5EF4-FFF2-40B4-BE49-F238E27FC236}">
                <a16:creationId xmlns:a16="http://schemas.microsoft.com/office/drawing/2014/main" id="{CF7C9BCB-B41B-4390-B59E-974417C8D04C}"/>
              </a:ext>
            </a:extLst>
          </p:cNvPr>
          <p:cNvSpPr>
            <a:spLocks xmlns:a="http://schemas.openxmlformats.org/drawingml/2006/main" noGrp="1"/>
          </p:cNvSpPr>
          <p:nvPr/>
        </p:nvSpPr>
        <p:spPr>
          <a:xfrm xmlns:a="http://schemas.openxmlformats.org/drawingml/2006/main">
            <a:off x="240982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02</a:t>
            </a:r>
          </a:p>
        </p:txBody>
      </p:sp>
      <p:sp>
        <p:nvSpPr>
          <p:cNvPr id="14" name="b2_text_88">
            <a:extLst xmlns:a="http://schemas.openxmlformats.org/drawingml/2006/main">
              <a:ext uri="{FF2B5EF4-FFF2-40B4-BE49-F238E27FC236}">
                <a16:creationId xmlns:a16="http://schemas.microsoft.com/office/drawing/2014/main" id="{320AAC46-4FE9-40F6-8200-8D3E8A6CB721}"/>
              </a:ext>
            </a:extLst>
          </p:cNvPr>
          <p:cNvSpPr>
            <a:spLocks xmlns:a="http://schemas.openxmlformats.org/drawingml/2006/main" noGrp="1"/>
          </p:cNvSpPr>
          <p:nvPr/>
        </p:nvSpPr>
        <p:spPr>
          <a:xfrm xmlns:a="http://schemas.openxmlformats.org/drawingml/2006/main">
            <a:off x="240982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UNDERSTAND</a:t>
            </a:r>
          </a:p>
        </p:txBody>
      </p:sp>
      <p:sp>
        <p:nvSpPr>
          <p:cNvPr id="15" name="b2_text_89">
            <a:extLst xmlns:a="http://schemas.openxmlformats.org/drawingml/2006/main">
              <a:ext uri="{FF2B5EF4-FFF2-40B4-BE49-F238E27FC236}">
                <a16:creationId xmlns:a16="http://schemas.microsoft.com/office/drawing/2014/main" id="{4F6118C7-ED4E-48FF-BAD5-F8620EFAA8F3}"/>
              </a:ext>
            </a:extLst>
          </p:cNvPr>
          <p:cNvSpPr>
            <a:spLocks xmlns:a="http://schemas.openxmlformats.org/drawingml/2006/main" noGrp="1"/>
          </p:cNvSpPr>
          <p:nvPr/>
        </p:nvSpPr>
        <p:spPr>
          <a:xfrm xmlns:a="http://schemas.openxmlformats.org/drawingml/2006/main">
            <a:off x="240982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Repository and</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project context</a:t>
            </a:r>
          </a:p>
        </p:txBody>
      </p:sp>
      <p:sp>
        <p:nvSpPr>
          <p:cNvPr id="16" name="b2_flow_90">
            <a:extLst xmlns:a="http://schemas.openxmlformats.org/drawingml/2006/main">
              <a:ext uri="{FF2B5EF4-FFF2-40B4-BE49-F238E27FC236}">
                <a16:creationId xmlns:a16="http://schemas.microsoft.com/office/drawing/2014/main" id="{26445DBC-C67A-4678-BDEA-B34A43020D60}"/>
              </a:ext>
            </a:extLst>
          </p:cNvPr>
          <p:cNvSpPr>
            <a:spLocks xmlns:a="http://schemas.openxmlformats.org/drawingml/2006/main" noGrp="1"/>
          </p:cNvSpPr>
          <p:nvPr/>
        </p:nvSpPr>
        <p:spPr>
          <a:xfrm xmlns:a="http://schemas.openxmlformats.org/drawingml/2006/main">
            <a:off x="4095750"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7" name="b3_flow_91">
            <a:extLst xmlns:a="http://schemas.openxmlformats.org/drawingml/2006/main">
              <a:ext uri="{FF2B5EF4-FFF2-40B4-BE49-F238E27FC236}">
                <a16:creationId xmlns:a16="http://schemas.microsoft.com/office/drawing/2014/main" id="{75D47BC5-6381-428B-8633-A5878F71F2A2}"/>
              </a:ext>
            </a:extLst>
          </p:cNvPr>
          <p:cNvSpPr>
            <a:spLocks xmlns:a="http://schemas.openxmlformats.org/drawingml/2006/main" noGrp="1"/>
          </p:cNvSpPr>
          <p:nvPr/>
        </p:nvSpPr>
        <p:spPr>
          <a:xfrm xmlns:a="http://schemas.openxmlformats.org/drawingml/2006/main">
            <a:off x="428625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8" name="b3_text_92">
            <a:extLst xmlns:a="http://schemas.openxmlformats.org/drawingml/2006/main">
              <a:ext uri="{FF2B5EF4-FFF2-40B4-BE49-F238E27FC236}">
                <a16:creationId xmlns:a16="http://schemas.microsoft.com/office/drawing/2014/main" id="{7741BAE1-C030-422B-ABC0-68150ED4BC9C}"/>
              </a:ext>
            </a:extLst>
          </p:cNvPr>
          <p:cNvSpPr>
            <a:spLocks xmlns:a="http://schemas.openxmlformats.org/drawingml/2006/main" noGrp="1"/>
          </p:cNvSpPr>
          <p:nvPr/>
        </p:nvSpPr>
        <p:spPr>
          <a:xfrm xmlns:a="http://schemas.openxmlformats.org/drawingml/2006/main">
            <a:off x="428625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03</a:t>
            </a:r>
          </a:p>
        </p:txBody>
      </p:sp>
      <p:sp>
        <p:nvSpPr>
          <p:cNvPr id="19" name="b3_text_93">
            <a:extLst xmlns:a="http://schemas.openxmlformats.org/drawingml/2006/main">
              <a:ext uri="{FF2B5EF4-FFF2-40B4-BE49-F238E27FC236}">
                <a16:creationId xmlns:a16="http://schemas.microsoft.com/office/drawing/2014/main" id="{6288A96B-F566-40FA-8C2D-77F8DC13B398}"/>
              </a:ext>
            </a:extLst>
          </p:cNvPr>
          <p:cNvSpPr>
            <a:spLocks xmlns:a="http://schemas.openxmlformats.org/drawingml/2006/main" noGrp="1"/>
          </p:cNvSpPr>
          <p:nvPr/>
        </p:nvSpPr>
        <p:spPr>
          <a:xfrm xmlns:a="http://schemas.openxmlformats.org/drawingml/2006/main">
            <a:off x="428625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SANDBOX</a:t>
            </a:r>
          </a:p>
        </p:txBody>
      </p:sp>
      <p:sp>
        <p:nvSpPr>
          <p:cNvPr id="20" name="b3_text_94">
            <a:extLst xmlns:a="http://schemas.openxmlformats.org/drawingml/2006/main">
              <a:ext uri="{FF2B5EF4-FFF2-40B4-BE49-F238E27FC236}">
                <a16:creationId xmlns:a16="http://schemas.microsoft.com/office/drawing/2014/main" id="{49CE607C-66C2-444D-B3CF-48B6CCC57FB2}"/>
              </a:ext>
            </a:extLst>
          </p:cNvPr>
          <p:cNvSpPr>
            <a:spLocks xmlns:a="http://schemas.openxmlformats.org/drawingml/2006/main" noGrp="1"/>
          </p:cNvSpPr>
          <p:nvPr/>
        </p:nvSpPr>
        <p:spPr>
          <a:xfrm xmlns:a="http://schemas.openxmlformats.org/drawingml/2006/main">
            <a:off x="428625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Isolated execution</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where required</a:t>
            </a:r>
          </a:p>
        </p:txBody>
      </p:sp>
      <p:sp>
        <p:nvSpPr>
          <p:cNvPr id="21" name="b3_flow_95">
            <a:extLst xmlns:a="http://schemas.openxmlformats.org/drawingml/2006/main">
              <a:ext uri="{FF2B5EF4-FFF2-40B4-BE49-F238E27FC236}">
                <a16:creationId xmlns:a16="http://schemas.microsoft.com/office/drawing/2014/main" id="{3E75B0AB-601E-4B9B-9646-FE49229D1FA9}"/>
              </a:ext>
            </a:extLst>
          </p:cNvPr>
          <p:cNvSpPr>
            <a:spLocks xmlns:a="http://schemas.openxmlformats.org/drawingml/2006/main" noGrp="1"/>
          </p:cNvSpPr>
          <p:nvPr/>
        </p:nvSpPr>
        <p:spPr>
          <a:xfrm xmlns:a="http://schemas.openxmlformats.org/drawingml/2006/main">
            <a:off x="597217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2" name="b4_flow_96">
            <a:extLst xmlns:a="http://schemas.openxmlformats.org/drawingml/2006/main">
              <a:ext uri="{FF2B5EF4-FFF2-40B4-BE49-F238E27FC236}">
                <a16:creationId xmlns:a16="http://schemas.microsoft.com/office/drawing/2014/main" id="{14DCDC65-CD06-416A-B342-52FDA223B48C}"/>
              </a:ext>
            </a:extLst>
          </p:cNvPr>
          <p:cNvSpPr>
            <a:spLocks xmlns:a="http://schemas.openxmlformats.org/drawingml/2006/main" noGrp="1"/>
          </p:cNvSpPr>
          <p:nvPr/>
        </p:nvSpPr>
        <p:spPr>
          <a:xfrm xmlns:a="http://schemas.openxmlformats.org/drawingml/2006/main">
            <a:off x="616267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3" name="b4_text_97">
            <a:extLst xmlns:a="http://schemas.openxmlformats.org/drawingml/2006/main">
              <a:ext uri="{FF2B5EF4-FFF2-40B4-BE49-F238E27FC236}">
                <a16:creationId xmlns:a16="http://schemas.microsoft.com/office/drawing/2014/main" id="{22A1C5C7-A767-42D5-A244-70AB7B21B43B}"/>
              </a:ext>
            </a:extLst>
          </p:cNvPr>
          <p:cNvSpPr>
            <a:spLocks xmlns:a="http://schemas.openxmlformats.org/drawingml/2006/main" noGrp="1"/>
          </p:cNvSpPr>
          <p:nvPr/>
        </p:nvSpPr>
        <p:spPr>
          <a:xfrm xmlns:a="http://schemas.openxmlformats.org/drawingml/2006/main">
            <a:off x="616267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04</a:t>
            </a:r>
          </a:p>
        </p:txBody>
      </p:sp>
      <p:sp>
        <p:nvSpPr>
          <p:cNvPr id="24" name="b4_text_98">
            <a:extLst xmlns:a="http://schemas.openxmlformats.org/drawingml/2006/main">
              <a:ext uri="{FF2B5EF4-FFF2-40B4-BE49-F238E27FC236}">
                <a16:creationId xmlns:a16="http://schemas.microsoft.com/office/drawing/2014/main" id="{6EC10448-4D2F-4B1B-9C51-91A6B30B1316}"/>
              </a:ext>
            </a:extLst>
          </p:cNvPr>
          <p:cNvSpPr>
            <a:spLocks xmlns:a="http://schemas.openxmlformats.org/drawingml/2006/main" noGrp="1"/>
          </p:cNvSpPr>
          <p:nvPr/>
        </p:nvSpPr>
        <p:spPr>
          <a:xfrm xmlns:a="http://schemas.openxmlformats.org/drawingml/2006/main">
            <a:off x="616267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VERIFY</a:t>
            </a:r>
          </a:p>
        </p:txBody>
      </p:sp>
      <p:sp>
        <p:nvSpPr>
          <p:cNvPr id="25" name="b4_text_99">
            <a:extLst xmlns:a="http://schemas.openxmlformats.org/drawingml/2006/main">
              <a:ext uri="{FF2B5EF4-FFF2-40B4-BE49-F238E27FC236}">
                <a16:creationId xmlns:a16="http://schemas.microsoft.com/office/drawing/2014/main" id="{B3C1BCC2-AFA2-41D8-A61B-32166E1039C7}"/>
              </a:ext>
            </a:extLst>
          </p:cNvPr>
          <p:cNvSpPr>
            <a:spLocks xmlns:a="http://schemas.openxmlformats.org/drawingml/2006/main" noGrp="1"/>
          </p:cNvSpPr>
          <p:nvPr/>
        </p:nvSpPr>
        <p:spPr>
          <a:xfrm xmlns:a="http://schemas.openxmlformats.org/drawingml/2006/main">
            <a:off x="616267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Compiler, tests</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scanners</a:t>
            </a:r>
          </a:p>
        </p:txBody>
      </p:sp>
      <p:sp>
        <p:nvSpPr>
          <p:cNvPr id="26" name="b4_flow_100">
            <a:extLst xmlns:a="http://schemas.openxmlformats.org/drawingml/2006/main">
              <a:ext uri="{FF2B5EF4-FFF2-40B4-BE49-F238E27FC236}">
                <a16:creationId xmlns:a16="http://schemas.microsoft.com/office/drawing/2014/main" id="{34A7EEE1-1800-4BEF-819F-C87847539486}"/>
              </a:ext>
            </a:extLst>
          </p:cNvPr>
          <p:cNvSpPr>
            <a:spLocks xmlns:a="http://schemas.openxmlformats.org/drawingml/2006/main" noGrp="1"/>
          </p:cNvSpPr>
          <p:nvPr/>
        </p:nvSpPr>
        <p:spPr>
          <a:xfrm xmlns:a="http://schemas.openxmlformats.org/drawingml/2006/main">
            <a:off x="7848600"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7" name="b5_flow_101">
            <a:extLst xmlns:a="http://schemas.openxmlformats.org/drawingml/2006/main">
              <a:ext uri="{FF2B5EF4-FFF2-40B4-BE49-F238E27FC236}">
                <a16:creationId xmlns:a16="http://schemas.microsoft.com/office/drawing/2014/main" id="{58F34E11-C0F9-42CC-AB37-233D5F411AEF}"/>
              </a:ext>
            </a:extLst>
          </p:cNvPr>
          <p:cNvSpPr>
            <a:spLocks xmlns:a="http://schemas.openxmlformats.org/drawingml/2006/main" noGrp="1"/>
          </p:cNvSpPr>
          <p:nvPr/>
        </p:nvSpPr>
        <p:spPr>
          <a:xfrm xmlns:a="http://schemas.openxmlformats.org/drawingml/2006/main">
            <a:off x="803910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8" name="b5_text_102">
            <a:extLst xmlns:a="http://schemas.openxmlformats.org/drawingml/2006/main">
              <a:ext uri="{FF2B5EF4-FFF2-40B4-BE49-F238E27FC236}">
                <a16:creationId xmlns:a16="http://schemas.microsoft.com/office/drawing/2014/main" id="{33DCF411-518D-4691-A8B8-69EF92D7F1D1}"/>
              </a:ext>
            </a:extLst>
          </p:cNvPr>
          <p:cNvSpPr>
            <a:spLocks xmlns:a="http://schemas.openxmlformats.org/drawingml/2006/main" noGrp="1"/>
          </p:cNvSpPr>
          <p:nvPr/>
        </p:nvSpPr>
        <p:spPr>
          <a:xfrm xmlns:a="http://schemas.openxmlformats.org/drawingml/2006/main">
            <a:off x="803910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05</a:t>
            </a:r>
          </a:p>
        </p:txBody>
      </p:sp>
      <p:sp>
        <p:nvSpPr>
          <p:cNvPr id="29" name="b5_text_103">
            <a:extLst xmlns:a="http://schemas.openxmlformats.org/drawingml/2006/main">
              <a:ext uri="{FF2B5EF4-FFF2-40B4-BE49-F238E27FC236}">
                <a16:creationId xmlns:a16="http://schemas.microsoft.com/office/drawing/2014/main" id="{9B3BDA86-649A-44C7-9DF6-0EDF04249BEC}"/>
              </a:ext>
            </a:extLst>
          </p:cNvPr>
          <p:cNvSpPr>
            <a:spLocks xmlns:a="http://schemas.openxmlformats.org/drawingml/2006/main" noGrp="1"/>
          </p:cNvSpPr>
          <p:nvPr/>
        </p:nvSpPr>
        <p:spPr>
          <a:xfrm xmlns:a="http://schemas.openxmlformats.org/drawingml/2006/main">
            <a:off x="803910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APPROVE</a:t>
            </a:r>
          </a:p>
        </p:txBody>
      </p:sp>
      <p:sp>
        <p:nvSpPr>
          <p:cNvPr id="30" name="b5_text_104">
            <a:extLst xmlns:a="http://schemas.openxmlformats.org/drawingml/2006/main">
              <a:ext uri="{FF2B5EF4-FFF2-40B4-BE49-F238E27FC236}">
                <a16:creationId xmlns:a16="http://schemas.microsoft.com/office/drawing/2014/main" id="{108860F0-ED1D-4B33-B8FB-4846ABC8CDE5}"/>
              </a:ext>
            </a:extLst>
          </p:cNvPr>
          <p:cNvSpPr>
            <a:spLocks xmlns:a="http://schemas.openxmlformats.org/drawingml/2006/main" noGrp="1"/>
          </p:cNvSpPr>
          <p:nvPr/>
        </p:nvSpPr>
        <p:spPr>
          <a:xfrm xmlns:a="http://schemas.openxmlformats.org/drawingml/2006/main">
            <a:off x="803910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Evidence packet</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human gate</a:t>
            </a:r>
          </a:p>
        </p:txBody>
      </p:sp>
      <p:sp>
        <p:nvSpPr>
          <p:cNvPr id="31" name="b5_flow_105">
            <a:extLst xmlns:a="http://schemas.openxmlformats.org/drawingml/2006/main">
              <a:ext uri="{FF2B5EF4-FFF2-40B4-BE49-F238E27FC236}">
                <a16:creationId xmlns:a16="http://schemas.microsoft.com/office/drawing/2014/main" id="{CC0F991A-04DE-4AD6-8A99-257ECDE23E97}"/>
              </a:ext>
            </a:extLst>
          </p:cNvPr>
          <p:cNvSpPr>
            <a:spLocks xmlns:a="http://schemas.openxmlformats.org/drawingml/2006/main" noGrp="1"/>
          </p:cNvSpPr>
          <p:nvPr/>
        </p:nvSpPr>
        <p:spPr>
          <a:xfrm xmlns:a="http://schemas.openxmlformats.org/drawingml/2006/main">
            <a:off x="972502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32" name="b6_flow_106">
            <a:extLst xmlns:a="http://schemas.openxmlformats.org/drawingml/2006/main">
              <a:ext uri="{FF2B5EF4-FFF2-40B4-BE49-F238E27FC236}">
                <a16:creationId xmlns:a16="http://schemas.microsoft.com/office/drawing/2014/main" id="{F23931D1-6B8D-4DE0-9FAF-7BBA03E6CE4B}"/>
              </a:ext>
            </a:extLst>
          </p:cNvPr>
          <p:cNvSpPr>
            <a:spLocks xmlns:a="http://schemas.openxmlformats.org/drawingml/2006/main" noGrp="1"/>
          </p:cNvSpPr>
          <p:nvPr/>
        </p:nvSpPr>
        <p:spPr>
          <a:xfrm xmlns:a="http://schemas.openxmlformats.org/drawingml/2006/main">
            <a:off x="991552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33" name="b6_text_107">
            <a:extLst xmlns:a="http://schemas.openxmlformats.org/drawingml/2006/main">
              <a:ext uri="{FF2B5EF4-FFF2-40B4-BE49-F238E27FC236}">
                <a16:creationId xmlns:a16="http://schemas.microsoft.com/office/drawing/2014/main" id="{7B10A9CB-D386-4AAF-BA96-CEABF6114D31}"/>
              </a:ext>
            </a:extLst>
          </p:cNvPr>
          <p:cNvSpPr>
            <a:spLocks xmlns:a="http://schemas.openxmlformats.org/drawingml/2006/main" noGrp="1"/>
          </p:cNvSpPr>
          <p:nvPr/>
        </p:nvSpPr>
        <p:spPr>
          <a:xfrm xmlns:a="http://schemas.openxmlformats.org/drawingml/2006/main">
            <a:off x="991552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06</a:t>
            </a:r>
          </a:p>
        </p:txBody>
      </p:sp>
      <p:sp>
        <p:nvSpPr>
          <p:cNvPr id="34" name="b6_text_108">
            <a:extLst xmlns:a="http://schemas.openxmlformats.org/drawingml/2006/main">
              <a:ext uri="{FF2B5EF4-FFF2-40B4-BE49-F238E27FC236}">
                <a16:creationId xmlns:a16="http://schemas.microsoft.com/office/drawing/2014/main" id="{3E21D626-333F-46FA-9925-E04DC2D6C9F7}"/>
              </a:ext>
            </a:extLst>
          </p:cNvPr>
          <p:cNvSpPr>
            <a:spLocks xmlns:a="http://schemas.openxmlformats.org/drawingml/2006/main" noGrp="1"/>
          </p:cNvSpPr>
          <p:nvPr/>
        </p:nvSpPr>
        <p:spPr>
          <a:xfrm xmlns:a="http://schemas.openxmlformats.org/drawingml/2006/main">
            <a:off x="991552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LEARN</a:t>
            </a:r>
          </a:p>
        </p:txBody>
      </p:sp>
      <p:sp>
        <p:nvSpPr>
          <p:cNvPr id="35" name="b6_text_109">
            <a:extLst xmlns:a="http://schemas.openxmlformats.org/drawingml/2006/main">
              <a:ext uri="{FF2B5EF4-FFF2-40B4-BE49-F238E27FC236}">
                <a16:creationId xmlns:a16="http://schemas.microsoft.com/office/drawing/2014/main" id="{F5DA427E-B7A2-486A-B36E-C0477744CD11}"/>
              </a:ext>
            </a:extLst>
          </p:cNvPr>
          <p:cNvSpPr>
            <a:spLocks xmlns:a="http://schemas.openxmlformats.org/drawingml/2006/main" noGrp="1"/>
          </p:cNvSpPr>
          <p:nvPr/>
        </p:nvSpPr>
        <p:spPr>
          <a:xfrm xmlns:a="http://schemas.openxmlformats.org/drawingml/2006/main">
            <a:off x="991552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Validated evidence</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into private memory</a:t>
            </a:r>
          </a:p>
        </p:txBody>
      </p:sp>
      <p:sp>
        <p:nvSpPr>
          <p:cNvPr id="36" name="b6_flow_110">
            <a:extLst xmlns:a="http://schemas.openxmlformats.org/drawingml/2006/main">
              <a:ext uri="{FF2B5EF4-FFF2-40B4-BE49-F238E27FC236}">
                <a16:creationId xmlns:a16="http://schemas.microsoft.com/office/drawing/2014/main" id="{0F7685B8-0AB5-4516-A4B1-B1FB9AD3C6A7}"/>
              </a:ext>
            </a:extLst>
          </p:cNvPr>
          <p:cNvSpPr>
            <a:spLocks xmlns:a="http://schemas.openxmlformats.org/drawingml/2006/main" noGrp="1"/>
          </p:cNvSpPr>
          <p:nvPr/>
        </p:nvSpPr>
        <p:spPr>
          <a:xfrm xmlns:a="http://schemas.openxmlformats.org/drawingml/2006/main">
            <a:off x="1362075" y="4848225"/>
            <a:ext cx="93726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7" name="b6_flow_111">
            <a:extLst xmlns:a="http://schemas.openxmlformats.org/drawingml/2006/main">
              <a:ext uri="{FF2B5EF4-FFF2-40B4-BE49-F238E27FC236}">
                <a16:creationId xmlns:a16="http://schemas.microsoft.com/office/drawing/2014/main" id="{86CA83F2-A2CD-4A51-AAD9-B787D0CE8500}"/>
              </a:ext>
            </a:extLst>
          </p:cNvPr>
          <p:cNvSpPr>
            <a:spLocks xmlns:a="http://schemas.openxmlformats.org/drawingml/2006/main" noGrp="1"/>
          </p:cNvSpPr>
          <p:nvPr/>
        </p:nvSpPr>
        <p:spPr>
          <a:xfrm xmlns:a="http://schemas.openxmlformats.org/drawingml/2006/main">
            <a:off x="1362075" y="4619625"/>
            <a:ext cx="19050" cy="2286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8" name="b6_flow_112">
            <a:extLst xmlns:a="http://schemas.openxmlformats.org/drawingml/2006/main">
              <a:ext uri="{FF2B5EF4-FFF2-40B4-BE49-F238E27FC236}">
                <a16:creationId xmlns:a16="http://schemas.microsoft.com/office/drawing/2014/main" id="{666411D9-3A55-4824-8BB9-6A94185B03E8}"/>
              </a:ext>
            </a:extLst>
          </p:cNvPr>
          <p:cNvSpPr>
            <a:spLocks xmlns:a="http://schemas.openxmlformats.org/drawingml/2006/main" noGrp="1"/>
          </p:cNvSpPr>
          <p:nvPr/>
        </p:nvSpPr>
        <p:spPr>
          <a:xfrm xmlns:a="http://schemas.openxmlformats.org/drawingml/2006/main">
            <a:off x="10734675" y="4619625"/>
            <a:ext cx="19050" cy="2286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9" name="b6_text_113">
            <a:extLst xmlns:a="http://schemas.openxmlformats.org/drawingml/2006/main">
              <a:ext uri="{FF2B5EF4-FFF2-40B4-BE49-F238E27FC236}">
                <a16:creationId xmlns:a16="http://schemas.microsoft.com/office/drawing/2014/main" id="{AE04AF23-6267-48EC-8BB7-834F96C332EA}"/>
              </a:ext>
            </a:extLst>
          </p:cNvPr>
          <p:cNvSpPr>
            <a:spLocks xmlns:a="http://schemas.openxmlformats.org/drawingml/2006/main" noGrp="1"/>
          </p:cNvSpPr>
          <p:nvPr/>
        </p:nvSpPr>
        <p:spPr>
          <a:xfrm xmlns:a="http://schemas.openxmlformats.org/drawingml/2006/main">
            <a:off x="2190750" y="50101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VERIFIED-WRITE MEMORY FEEDS FUTURE CONTEXT</a:t>
            </a:r>
          </a:p>
        </p:txBody>
      </p:sp>
      <p:sp>
        <p:nvSpPr>
          <p:cNvPr id="40" name="b6_text_114">
            <a:extLst xmlns:a="http://schemas.openxmlformats.org/drawingml/2006/main">
              <a:ext uri="{FF2B5EF4-FFF2-40B4-BE49-F238E27FC236}">
                <a16:creationId xmlns:a16="http://schemas.microsoft.com/office/drawing/2014/main" id="{8F5DB8EA-9267-4BF7-B23B-035C844B2DEA}"/>
              </a:ext>
            </a:extLst>
          </p:cNvPr>
          <p:cNvSpPr>
            <a:spLocks xmlns:a="http://schemas.openxmlformats.org/drawingml/2006/main" noGrp="1"/>
          </p:cNvSpPr>
          <p:nvPr/>
        </p:nvSpPr>
        <p:spPr>
          <a:xfrm xmlns:a="http://schemas.openxmlformats.org/drawingml/2006/main">
            <a:off x="533400" y="56102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F5F8FC"/>
                </a:solidFill>
                <a:latin typeface="Arial"/>
                <a:ea typeface="Arial"/>
                <a:cs typeface="Arial"/>
              </a:defRPr>
            </a:pPr>
            <a:r>
              <a:rPr sz="1725" b="0">
                <a:solidFill>
                  <a:srgbClr val="F5F8FC"/>
                </a:solidFill>
                <a:latin typeface="Arial"/>
                <a:ea typeface="Arial"/>
                <a:cs typeface="Arial"/>
              </a:rPr>
              <a:t>Pull request → context → evaluation → proposed action → verification → evidence → human decision</a:t>
            </a:r>
          </a:p>
        </p:txBody>
      </p:sp>
    </p:spTree>
    <p:extLst>
      <p:ext uri="{BB962C8B-B14F-4D97-AF65-F5344CB8AC3E}">
        <p14:creationId xmlns:p14="http://schemas.microsoft.com/office/powerpoint/2010/main" val="545007966"/>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right)">
                                      <p:cBhvr>
                                        <p:cTn id="19" dur="35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right)">
                                      <p:cBhvr>
                                        <p:cTn id="24" dur="35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35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right)">
                                      <p:cBhvr>
                                        <p:cTn id="41" dur="3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right)">
                                      <p:cBhvr>
                                        <p:cTn id="53" dur="35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3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00"/>
                                        <p:tgtEl>
                                          <p:spTgt spid="25"/>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ipe(right)">
                                      <p:cBhvr>
                                        <p:cTn id="70" dur="35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right)">
                                      <p:cBhvr>
                                        <p:cTn id="75" dur="3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3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3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300"/>
                                        <p:tgtEl>
                                          <p:spTgt spid="30"/>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right)">
                                      <p:cBhvr>
                                        <p:cTn id="87" dur="35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wipe(right)">
                                      <p:cBhvr>
                                        <p:cTn id="92" dur="35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3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3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300"/>
                                        <p:tgtEl>
                                          <p:spTgt spid="35"/>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wipe(right)">
                                      <p:cBhvr>
                                        <p:cTn id="104" dur="350"/>
                                        <p:tgtEl>
                                          <p:spTgt spid="36"/>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wipe(right)">
                                      <p:cBhvr>
                                        <p:cTn id="107" dur="350"/>
                                        <p:tgtEl>
                                          <p:spTgt spid="37"/>
                                        </p:tgtEl>
                                      </p:cBhvr>
                                    </p:animEffect>
                                  </p:childTnLst>
                                </p:cTn>
                              </p:par>
                              <p:par>
                                <p:cTn id="108" presetID="22" presetClass="entr" presetSubtype="1"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wipe(right)">
                                      <p:cBhvr>
                                        <p:cTn id="110" dur="35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30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3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2" name="b0_text_115">
            <a:extLst xmlns:a="http://schemas.openxmlformats.org/drawingml/2006/main">
              <a:ext uri="{FF2B5EF4-FFF2-40B4-BE49-F238E27FC236}">
                <a16:creationId xmlns:a16="http://schemas.microsoft.com/office/drawing/2014/main" id="{A66B9564-0041-43E6-8BBA-D232B504E0E5}"/>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05  /  TECHNOLOGY &amp; INNOVATION</a:t>
            </a:r>
          </a:p>
        </p:txBody>
      </p:sp>
      <p:sp>
        <p:nvSpPr>
          <p:cNvPr id="2" name="b0_headline_116">
            <a:extLst xmlns:a="http://schemas.openxmlformats.org/drawingml/2006/main">
              <a:ext uri="{FF2B5EF4-FFF2-40B4-BE49-F238E27FC236}">
                <a16:creationId xmlns:a16="http://schemas.microsoft.com/office/drawing/2014/main" id="{E8B98376-7698-40A7-B23F-08BC56CD065B}"/>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Reason probabilistically. Verify deterministically.</a:t>
            </a:r>
          </a:p>
        </p:txBody>
      </p:sp>
      <p:sp>
        <p:nvSpPr>
          <p:cNvPr id="3" name="b0_flow_117">
            <a:extLst xmlns:a="http://schemas.openxmlformats.org/drawingml/2006/main">
              <a:ext uri="{FF2B5EF4-FFF2-40B4-BE49-F238E27FC236}">
                <a16:creationId xmlns:a16="http://schemas.microsoft.com/office/drawing/2014/main" id="{2D3099AA-775C-4421-88E2-99315F316896}"/>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18">
            <a:extLst xmlns:a="http://schemas.openxmlformats.org/drawingml/2006/main">
              <a:ext uri="{FF2B5EF4-FFF2-40B4-BE49-F238E27FC236}">
                <a16:creationId xmlns:a16="http://schemas.microsoft.com/office/drawing/2014/main" id="{73CE89BA-8B31-4B7E-8BF1-88BEFE729F45}"/>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19">
            <a:extLst xmlns:a="http://schemas.openxmlformats.org/drawingml/2006/main">
              <a:ext uri="{FF2B5EF4-FFF2-40B4-BE49-F238E27FC236}">
                <a16:creationId xmlns:a16="http://schemas.microsoft.com/office/drawing/2014/main" id="{8CED310C-DA13-4C9E-8545-D108F5A259BB}"/>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05</a:t>
            </a:r>
          </a:p>
        </p:txBody>
      </p:sp>
      <p:sp>
        <p:nvSpPr>
          <p:cNvPr id="6" name="b0_text_120">
            <a:extLst xmlns:a="http://schemas.openxmlformats.org/drawingml/2006/main">
              <a:ext uri="{FF2B5EF4-FFF2-40B4-BE49-F238E27FC236}">
                <a16:creationId xmlns:a16="http://schemas.microsoft.com/office/drawing/2014/main" id="{C23EB046-E0B2-4CA3-93A9-503E3A04F2D8}"/>
              </a:ext>
            </a:extLst>
          </p:cNvPr>
          <p:cNvSpPr>
            <a:spLocks xmlns:a="http://schemas.openxmlformats.org/drawingml/2006/main" noGrp="1"/>
          </p:cNvSpPr>
          <p:nvPr/>
        </p:nvSpPr>
        <p:spPr>
          <a:xfrm xmlns:a="http://schemas.openxmlformats.org/drawingml/2006/main">
            <a:off x="533400" y="1781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AVANTA ARCHITECTURE / CURRENTLY UNDER DEVELOPMENT</a:t>
            </a:r>
          </a:p>
        </p:txBody>
      </p:sp>
      <p:sp>
        <p:nvSpPr>
          <p:cNvPr id="7" name="b1_text_121">
            <a:extLst xmlns:a="http://schemas.openxmlformats.org/drawingml/2006/main">
              <a:ext uri="{FF2B5EF4-FFF2-40B4-BE49-F238E27FC236}">
                <a16:creationId xmlns:a16="http://schemas.microsoft.com/office/drawing/2014/main" id="{49720490-6D18-4512-87B4-BB6373105B9C}"/>
              </a:ext>
            </a:extLst>
          </p:cNvPr>
          <p:cNvSpPr>
            <a:spLocks xmlns:a="http://schemas.openxmlformats.org/drawingml/2006/main" noGrp="1"/>
          </p:cNvSpPr>
          <p:nvPr/>
        </p:nvSpPr>
        <p:spPr>
          <a:xfrm xmlns:a="http://schemas.openxmlformats.org/drawingml/2006/main">
            <a:off x="533400" y="232410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SOURCE</a:t>
            </a:r>
          </a:p>
        </p:txBody>
      </p:sp>
      <p:sp>
        <p:nvSpPr>
          <p:cNvPr id="8" name="b1_text_122">
            <a:extLst xmlns:a="http://schemas.openxmlformats.org/drawingml/2006/main">
              <a:ext uri="{FF2B5EF4-FFF2-40B4-BE49-F238E27FC236}">
                <a16:creationId xmlns:a16="http://schemas.microsoft.com/office/drawing/2014/main" id="{D0721AC4-CC84-4330-93BE-E209BBBAD4E5}"/>
              </a:ext>
            </a:extLst>
          </p:cNvPr>
          <p:cNvSpPr>
            <a:spLocks xmlns:a="http://schemas.openxmlformats.org/drawingml/2006/main" noGrp="1"/>
          </p:cNvSpPr>
          <p:nvPr/>
        </p:nvSpPr>
        <p:spPr>
          <a:xfrm xmlns:a="http://schemas.openxmlformats.org/drawingml/2006/main">
            <a:off x="533400" y="2752725"/>
            <a:ext cx="1638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Code change</a:t>
            </a:r>
          </a:p>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Pull request</a:t>
            </a:r>
          </a:p>
        </p:txBody>
      </p:sp>
      <p:sp>
        <p:nvSpPr>
          <p:cNvPr id="9" name="b1_flow_123">
            <a:extLst xmlns:a="http://schemas.openxmlformats.org/drawingml/2006/main">
              <a:ext uri="{FF2B5EF4-FFF2-40B4-BE49-F238E27FC236}">
                <a16:creationId xmlns:a16="http://schemas.microsoft.com/office/drawing/2014/main" id="{437F166D-DF15-4820-839A-331F7B77F1BC}"/>
              </a:ext>
            </a:extLst>
          </p:cNvPr>
          <p:cNvSpPr>
            <a:spLocks xmlns:a="http://schemas.openxmlformats.org/drawingml/2006/main" noGrp="1"/>
          </p:cNvSpPr>
          <p:nvPr/>
        </p:nvSpPr>
        <p:spPr>
          <a:xfrm xmlns:a="http://schemas.openxmlformats.org/drawingml/2006/main">
            <a:off x="2057400" y="3124200"/>
            <a:ext cx="27622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0" name="b2_box_124">
            <a:extLst xmlns:a="http://schemas.openxmlformats.org/drawingml/2006/main">
              <a:ext uri="{FF2B5EF4-FFF2-40B4-BE49-F238E27FC236}">
                <a16:creationId xmlns:a16="http://schemas.microsoft.com/office/drawing/2014/main" id="{86E2426A-A7DC-4B73-B3FA-AB7732AFD92D}"/>
              </a:ext>
            </a:extLst>
          </p:cNvPr>
          <p:cNvSpPr>
            <a:spLocks xmlns:a="http://schemas.openxmlformats.org/drawingml/2006/main" noGrp="1"/>
          </p:cNvSpPr>
          <p:nvPr/>
        </p:nvSpPr>
        <p:spPr>
          <a:xfrm xmlns:a="http://schemas.openxmlformats.org/drawingml/2006/main">
            <a:off x="2428875" y="2286000"/>
            <a:ext cx="3714750" cy="2152650"/>
          </a:xfrm>
          <a:prstGeom xmlns:a="http://schemas.openxmlformats.org/drawingml/2006/main" prst="rect">
            <a:avLst/>
          </a:prstGeom>
          <a:solidFill xmlns:a="http://schemas.openxmlformats.org/drawingml/2006/main">
            <a:srgbClr val="111E2C"/>
          </a:solidFill>
          <a:ln xmlns:a="http://schemas.openxmlformats.org/drawingml/2006/main" w="0">
            <a:noFill/>
          </a:ln>
        </p:spPr>
      </p:sp>
      <p:sp>
        <p:nvSpPr>
          <p:cNvPr id="11" name="b2_text_125">
            <a:extLst xmlns:a="http://schemas.openxmlformats.org/drawingml/2006/main">
              <a:ext uri="{FF2B5EF4-FFF2-40B4-BE49-F238E27FC236}">
                <a16:creationId xmlns:a16="http://schemas.microsoft.com/office/drawing/2014/main" id="{7714560E-6C55-4F19-B4C4-49DCB96A3735}"/>
              </a:ext>
            </a:extLst>
          </p:cNvPr>
          <p:cNvSpPr>
            <a:spLocks xmlns:a="http://schemas.openxmlformats.org/drawingml/2006/main" noGrp="1"/>
          </p:cNvSpPr>
          <p:nvPr/>
        </p:nvSpPr>
        <p:spPr>
          <a:xfrm xmlns:a="http://schemas.openxmlformats.org/drawingml/2006/main">
            <a:off x="2638425" y="2438400"/>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CONTEXT LAYER</a:t>
            </a:r>
          </a:p>
        </p:txBody>
      </p:sp>
      <p:sp>
        <p:nvSpPr>
          <p:cNvPr id="12" name="b2_text_126">
            <a:extLst xmlns:a="http://schemas.openxmlformats.org/drawingml/2006/main">
              <a:ext uri="{FF2B5EF4-FFF2-40B4-BE49-F238E27FC236}">
                <a16:creationId xmlns:a16="http://schemas.microsoft.com/office/drawing/2014/main" id="{A1BF13A1-D15B-41F5-852A-42649E3429AC}"/>
              </a:ext>
            </a:extLst>
          </p:cNvPr>
          <p:cNvSpPr>
            <a:spLocks xmlns:a="http://schemas.openxmlformats.org/drawingml/2006/main" noGrp="1"/>
          </p:cNvSpPr>
          <p:nvPr/>
        </p:nvSpPr>
        <p:spPr>
          <a:xfrm xmlns:a="http://schemas.openxmlformats.org/drawingml/2006/main">
            <a:off x="2638425" y="2886075"/>
            <a:ext cx="328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Repository structure / dependencies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Program graph / security findings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Historical project memory</a:t>
            </a:r>
          </a:p>
        </p:txBody>
      </p:sp>
      <p:sp>
        <p:nvSpPr>
          <p:cNvPr id="13" name="b2_text_127">
            <a:extLst xmlns:a="http://schemas.openxmlformats.org/drawingml/2006/main">
              <a:ext uri="{FF2B5EF4-FFF2-40B4-BE49-F238E27FC236}">
                <a16:creationId xmlns:a16="http://schemas.microsoft.com/office/drawing/2014/main" id="{596C7089-0EE2-4678-9998-122CF49305F4}"/>
              </a:ext>
            </a:extLst>
          </p:cNvPr>
          <p:cNvSpPr>
            <a:spLocks xmlns:a="http://schemas.openxmlformats.org/drawingml/2006/main" noGrp="1"/>
          </p:cNvSpPr>
          <p:nvPr/>
        </p:nvSpPr>
        <p:spPr>
          <a:xfrm xmlns:a="http://schemas.openxmlformats.org/drawingml/2006/main">
            <a:off x="2638425" y="40195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52D5F2"/>
                </a:solidFill>
                <a:latin typeface="Arial"/>
                <a:ea typeface="Arial"/>
                <a:cs typeface="Arial"/>
              </a:defRPr>
            </a:pPr>
            <a:r>
              <a:rPr sz="1650" b="1">
                <a:solidFill>
                  <a:srgbClr val="52D5F2"/>
                </a:solidFill>
                <a:latin typeface="Arial"/>
                <a:ea typeface="Arial"/>
                <a:cs typeface="Arial"/>
              </a:rPr>
              <a:t>Structured context packet</a:t>
            </a:r>
          </a:p>
        </p:txBody>
      </p:sp>
      <p:sp>
        <p:nvSpPr>
          <p:cNvPr id="14" name="b3_flow_128">
            <a:extLst xmlns:a="http://schemas.openxmlformats.org/drawingml/2006/main">
              <a:ext uri="{FF2B5EF4-FFF2-40B4-BE49-F238E27FC236}">
                <a16:creationId xmlns:a16="http://schemas.microsoft.com/office/drawing/2014/main" id="{C9786786-43D7-428F-866F-3A0FCB279B08}"/>
              </a:ext>
            </a:extLst>
          </p:cNvPr>
          <p:cNvSpPr>
            <a:spLocks xmlns:a="http://schemas.openxmlformats.org/drawingml/2006/main" noGrp="1"/>
          </p:cNvSpPr>
          <p:nvPr/>
        </p:nvSpPr>
        <p:spPr>
          <a:xfrm xmlns:a="http://schemas.openxmlformats.org/drawingml/2006/main">
            <a:off x="4286250" y="4438650"/>
            <a:ext cx="19050" cy="15240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5" name="b3_box_129">
            <a:extLst xmlns:a="http://schemas.openxmlformats.org/drawingml/2006/main">
              <a:ext uri="{FF2B5EF4-FFF2-40B4-BE49-F238E27FC236}">
                <a16:creationId xmlns:a16="http://schemas.microsoft.com/office/drawing/2014/main" id="{E2018C95-0828-486B-9C77-A17FBDF06E75}"/>
              </a:ext>
            </a:extLst>
          </p:cNvPr>
          <p:cNvSpPr>
            <a:spLocks xmlns:a="http://schemas.openxmlformats.org/drawingml/2006/main" noGrp="1"/>
          </p:cNvSpPr>
          <p:nvPr/>
        </p:nvSpPr>
        <p:spPr>
          <a:xfrm xmlns:a="http://schemas.openxmlformats.org/drawingml/2006/main">
            <a:off x="2428875" y="4591050"/>
            <a:ext cx="3714750" cy="857250"/>
          </a:xfrm>
          <a:prstGeom xmlns:a="http://schemas.openxmlformats.org/drawingml/2006/main" prst="rect">
            <a:avLst/>
          </a:prstGeom>
          <a:solidFill xmlns:a="http://schemas.openxmlformats.org/drawingml/2006/main">
            <a:srgbClr val="111E2C"/>
          </a:solidFill>
          <a:ln xmlns:a="http://schemas.openxmlformats.org/drawingml/2006/main" w="14288">
            <a:solidFill>
              <a:srgbClr val="344A60"/>
            </a:solidFill>
          </a:ln>
        </p:spPr>
      </p:sp>
      <p:sp>
        <p:nvSpPr>
          <p:cNvPr id="16" name="b3_text_130">
            <a:extLst xmlns:a="http://schemas.openxmlformats.org/drawingml/2006/main">
              <a:ext uri="{FF2B5EF4-FFF2-40B4-BE49-F238E27FC236}">
                <a16:creationId xmlns:a16="http://schemas.microsoft.com/office/drawing/2014/main" id="{194ADBC3-3F7B-4921-8144-C3DBEB469D87}"/>
              </a:ext>
            </a:extLst>
          </p:cNvPr>
          <p:cNvSpPr>
            <a:spLocks xmlns:a="http://schemas.openxmlformats.org/drawingml/2006/main" noGrp="1"/>
          </p:cNvSpPr>
          <p:nvPr/>
        </p:nvSpPr>
        <p:spPr>
          <a:xfrm xmlns:a="http://schemas.openxmlformats.org/drawingml/2006/main">
            <a:off x="2638425" y="469582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RUDRA REASONING</a:t>
            </a:r>
          </a:p>
        </p:txBody>
      </p:sp>
      <p:sp>
        <p:nvSpPr>
          <p:cNvPr id="17" name="b3_text_131">
            <a:extLst xmlns:a="http://schemas.openxmlformats.org/drawingml/2006/main">
              <a:ext uri="{FF2B5EF4-FFF2-40B4-BE49-F238E27FC236}">
                <a16:creationId xmlns:a16="http://schemas.microsoft.com/office/drawing/2014/main" id="{FF9A6585-B761-42EF-BC92-3D79898273A3}"/>
              </a:ext>
            </a:extLst>
          </p:cNvPr>
          <p:cNvSpPr>
            <a:spLocks xmlns:a="http://schemas.openxmlformats.org/drawingml/2006/main" noGrp="1"/>
          </p:cNvSpPr>
          <p:nvPr/>
        </p:nvSpPr>
        <p:spPr>
          <a:xfrm xmlns:a="http://schemas.openxmlformats.org/drawingml/2006/main">
            <a:off x="2638425" y="503872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F5F8FC"/>
                </a:solidFill>
                <a:latin typeface="Arial"/>
                <a:ea typeface="Arial"/>
                <a:cs typeface="Arial"/>
              </a:defRPr>
            </a:pPr>
            <a:r>
              <a:rPr sz="1575" b="0">
                <a:solidFill>
                  <a:srgbClr val="F5F8FC"/>
                </a:solidFill>
                <a:latin typeface="Arial"/>
                <a:ea typeface="Arial"/>
                <a:cs typeface="Arial"/>
              </a:rPr>
              <a:t>Interpret context. Propose a patch.</a:t>
            </a:r>
          </a:p>
        </p:txBody>
      </p:sp>
      <p:sp>
        <p:nvSpPr>
          <p:cNvPr id="18" name="b4_flow_132">
            <a:extLst xmlns:a="http://schemas.openxmlformats.org/drawingml/2006/main">
              <a:ext uri="{FF2B5EF4-FFF2-40B4-BE49-F238E27FC236}">
                <a16:creationId xmlns:a16="http://schemas.microsoft.com/office/drawing/2014/main" id="{BB45B0B6-7C29-4C3C-AFEF-8136A68540BC}"/>
              </a:ext>
            </a:extLst>
          </p:cNvPr>
          <p:cNvSpPr>
            <a:spLocks xmlns:a="http://schemas.openxmlformats.org/drawingml/2006/main" noGrp="1"/>
          </p:cNvSpPr>
          <p:nvPr/>
        </p:nvSpPr>
        <p:spPr>
          <a:xfrm xmlns:a="http://schemas.openxmlformats.org/drawingml/2006/main">
            <a:off x="6248400" y="2286000"/>
            <a:ext cx="28575" cy="31623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9" name="b4_flow_133">
            <a:extLst xmlns:a="http://schemas.openxmlformats.org/drawingml/2006/main">
              <a:ext uri="{FF2B5EF4-FFF2-40B4-BE49-F238E27FC236}">
                <a16:creationId xmlns:a16="http://schemas.microsoft.com/office/drawing/2014/main" id="{17BB4401-054B-4FD4-A764-F865FB991870}"/>
              </a:ext>
            </a:extLst>
          </p:cNvPr>
          <p:cNvSpPr>
            <a:spLocks xmlns:a="http://schemas.openxmlformats.org/drawingml/2006/main" noGrp="1"/>
          </p:cNvSpPr>
          <p:nvPr/>
        </p:nvSpPr>
        <p:spPr>
          <a:xfrm xmlns:a="http://schemas.openxmlformats.org/drawingml/2006/main">
            <a:off x="6143625" y="5019675"/>
            <a:ext cx="28575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0" name="b4_flow_134">
            <a:extLst xmlns:a="http://schemas.openxmlformats.org/drawingml/2006/main">
              <a:ext uri="{FF2B5EF4-FFF2-40B4-BE49-F238E27FC236}">
                <a16:creationId xmlns:a16="http://schemas.microsoft.com/office/drawing/2014/main" id="{C3BE3689-6F37-468C-BC8F-B393DE84E776}"/>
              </a:ext>
            </a:extLst>
          </p:cNvPr>
          <p:cNvSpPr>
            <a:spLocks xmlns:a="http://schemas.openxmlformats.org/drawingml/2006/main" noGrp="1"/>
          </p:cNvSpPr>
          <p:nvPr/>
        </p:nvSpPr>
        <p:spPr>
          <a:xfrm xmlns:a="http://schemas.openxmlformats.org/drawingml/2006/main">
            <a:off x="6419850" y="3000375"/>
            <a:ext cx="19050" cy="20383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1" name="b4_flow_135">
            <a:extLst xmlns:a="http://schemas.openxmlformats.org/drawingml/2006/main">
              <a:ext uri="{FF2B5EF4-FFF2-40B4-BE49-F238E27FC236}">
                <a16:creationId xmlns:a16="http://schemas.microsoft.com/office/drawing/2014/main" id="{D3F2C456-43A9-4701-9BA9-ADE5F844E5C2}"/>
              </a:ext>
            </a:extLst>
          </p:cNvPr>
          <p:cNvSpPr>
            <a:spLocks xmlns:a="http://schemas.openxmlformats.org/drawingml/2006/main" noGrp="1"/>
          </p:cNvSpPr>
          <p:nvPr/>
        </p:nvSpPr>
        <p:spPr>
          <a:xfrm xmlns:a="http://schemas.openxmlformats.org/drawingml/2006/main">
            <a:off x="6419850" y="3000375"/>
            <a:ext cx="61912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2" name="b4_text_136">
            <a:extLst xmlns:a="http://schemas.openxmlformats.org/drawingml/2006/main">
              <a:ext uri="{FF2B5EF4-FFF2-40B4-BE49-F238E27FC236}">
                <a16:creationId xmlns:a16="http://schemas.microsoft.com/office/drawing/2014/main" id="{96890943-1245-4B07-8C29-051F2EC6B8B7}"/>
              </a:ext>
            </a:extLst>
          </p:cNvPr>
          <p:cNvSpPr>
            <a:spLocks xmlns:a="http://schemas.openxmlformats.org/drawingml/2006/main" noGrp="1"/>
          </p:cNvSpPr>
          <p:nvPr/>
        </p:nvSpPr>
        <p:spPr>
          <a:xfrm xmlns:a="http://schemas.openxmlformats.org/drawingml/2006/main">
            <a:off x="6600825" y="22764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CHANGE</a:t>
            </a:r>
          </a:p>
        </p:txBody>
      </p:sp>
      <p:sp>
        <p:nvSpPr>
          <p:cNvPr id="23" name="b4_text_137">
            <a:extLst xmlns:a="http://schemas.openxmlformats.org/drawingml/2006/main">
              <a:ext uri="{FF2B5EF4-FFF2-40B4-BE49-F238E27FC236}">
                <a16:creationId xmlns:a16="http://schemas.microsoft.com/office/drawing/2014/main" id="{66387439-8420-4D23-8525-C86223093409}"/>
              </a:ext>
            </a:extLst>
          </p:cNvPr>
          <p:cNvSpPr>
            <a:spLocks xmlns:a="http://schemas.openxmlformats.org/drawingml/2006/main" noGrp="1"/>
          </p:cNvSpPr>
          <p:nvPr/>
        </p:nvSpPr>
        <p:spPr>
          <a:xfrm xmlns:a="http://schemas.openxmlformats.org/drawingml/2006/main">
            <a:off x="6600825" y="26193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A candidate action crosses the gate boundary</a:t>
            </a:r>
          </a:p>
        </p:txBody>
      </p:sp>
      <p:sp>
        <p:nvSpPr>
          <p:cNvPr id="24" name="b5_box_138">
            <a:extLst xmlns:a="http://schemas.openxmlformats.org/drawingml/2006/main">
              <a:ext uri="{FF2B5EF4-FFF2-40B4-BE49-F238E27FC236}">
                <a16:creationId xmlns:a16="http://schemas.microsoft.com/office/drawing/2014/main" id="{800727D2-FC89-472F-BADC-11E042EA0244}"/>
              </a:ext>
            </a:extLst>
          </p:cNvPr>
          <p:cNvSpPr>
            <a:spLocks xmlns:a="http://schemas.openxmlformats.org/drawingml/2006/main" noGrp="1"/>
          </p:cNvSpPr>
          <p:nvPr/>
        </p:nvSpPr>
        <p:spPr>
          <a:xfrm xmlns:a="http://schemas.openxmlformats.org/drawingml/2006/main">
            <a:off x="6600825" y="3152775"/>
            <a:ext cx="5057775" cy="1266825"/>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25" name="b5_text_139">
            <a:extLst xmlns:a="http://schemas.openxmlformats.org/drawingml/2006/main">
              <a:ext uri="{FF2B5EF4-FFF2-40B4-BE49-F238E27FC236}">
                <a16:creationId xmlns:a16="http://schemas.microsoft.com/office/drawing/2014/main" id="{E158A0C8-7532-4A99-A84D-41C9F45C5F85}"/>
              </a:ext>
            </a:extLst>
          </p:cNvPr>
          <p:cNvSpPr>
            <a:spLocks xmlns:a="http://schemas.openxmlformats.org/drawingml/2006/main" noGrp="1"/>
          </p:cNvSpPr>
          <p:nvPr/>
        </p:nvSpPr>
        <p:spPr>
          <a:xfrm xmlns:a="http://schemas.openxmlformats.org/drawingml/2006/main">
            <a:off x="6781800" y="3286125"/>
            <a:ext cx="470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DETERMINISTIC VERIFICATION</a:t>
            </a:r>
          </a:p>
        </p:txBody>
      </p:sp>
      <p:sp>
        <p:nvSpPr>
          <p:cNvPr id="26" name="b5_text_140">
            <a:extLst xmlns:a="http://schemas.openxmlformats.org/drawingml/2006/main">
              <a:ext uri="{FF2B5EF4-FFF2-40B4-BE49-F238E27FC236}">
                <a16:creationId xmlns:a16="http://schemas.microsoft.com/office/drawing/2014/main" id="{0AD5C4A1-8F85-42AF-9D8F-185BB181BA96}"/>
              </a:ext>
            </a:extLst>
          </p:cNvPr>
          <p:cNvSpPr>
            <a:spLocks xmlns:a="http://schemas.openxmlformats.org/drawingml/2006/main" noGrp="1"/>
          </p:cNvSpPr>
          <p:nvPr/>
        </p:nvSpPr>
        <p:spPr>
          <a:xfrm xmlns:a="http://schemas.openxmlformats.org/drawingml/2006/main">
            <a:off x="6781800" y="3629025"/>
            <a:ext cx="4705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Compile / unit + integration tests / SAST</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Dependency checks / security behaviour</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Sandbox execution where required</a:t>
            </a:r>
          </a:p>
        </p:txBody>
      </p:sp>
      <p:sp>
        <p:nvSpPr>
          <p:cNvPr id="27" name="b6_text_141">
            <a:extLst xmlns:a="http://schemas.openxmlformats.org/drawingml/2006/main">
              <a:ext uri="{FF2B5EF4-FFF2-40B4-BE49-F238E27FC236}">
                <a16:creationId xmlns:a16="http://schemas.microsoft.com/office/drawing/2014/main" id="{A01C7624-21AA-496A-84CC-262974C5F50F}"/>
              </a:ext>
            </a:extLst>
          </p:cNvPr>
          <p:cNvSpPr>
            <a:spLocks xmlns:a="http://schemas.openxmlformats.org/drawingml/2006/main" noGrp="1"/>
          </p:cNvSpPr>
          <p:nvPr/>
        </p:nvSpPr>
        <p:spPr>
          <a:xfrm xmlns:a="http://schemas.openxmlformats.org/drawingml/2006/main">
            <a:off x="6600825" y="47720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52D5F2"/>
                </a:solidFill>
                <a:latin typeface="Arial"/>
                <a:ea typeface="Arial"/>
                <a:cs typeface="Arial"/>
              </a:defRPr>
            </a:pPr>
            <a:r>
              <a:rPr sz="1800" b="1">
                <a:solidFill>
                  <a:srgbClr val="52D5F2"/>
                </a:solidFill>
                <a:latin typeface="Arial"/>
                <a:ea typeface="Arial"/>
                <a:cs typeface="Arial"/>
              </a:rPr>
              <a:t>EVIDENCE PACKET</a:t>
            </a:r>
          </a:p>
        </p:txBody>
      </p:sp>
      <p:sp>
        <p:nvSpPr>
          <p:cNvPr id="28" name="b6_flow_142">
            <a:extLst xmlns:a="http://schemas.openxmlformats.org/drawingml/2006/main">
              <a:ext uri="{FF2B5EF4-FFF2-40B4-BE49-F238E27FC236}">
                <a16:creationId xmlns:a16="http://schemas.microsoft.com/office/drawing/2014/main" id="{59232315-E338-42C9-A492-0049B4E3F104}"/>
              </a:ext>
            </a:extLst>
          </p:cNvPr>
          <p:cNvSpPr>
            <a:spLocks xmlns:a="http://schemas.openxmlformats.org/drawingml/2006/main" noGrp="1"/>
          </p:cNvSpPr>
          <p:nvPr/>
        </p:nvSpPr>
        <p:spPr>
          <a:xfrm xmlns:a="http://schemas.openxmlformats.org/drawingml/2006/main">
            <a:off x="8991600" y="4962525"/>
            <a:ext cx="25717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9" name="b6_text_143">
            <a:extLst xmlns:a="http://schemas.openxmlformats.org/drawingml/2006/main">
              <a:ext uri="{FF2B5EF4-FFF2-40B4-BE49-F238E27FC236}">
                <a16:creationId xmlns:a16="http://schemas.microsoft.com/office/drawing/2014/main" id="{A39E43B2-7BED-4A9B-BD96-4C42F0624D54}"/>
              </a:ext>
            </a:extLst>
          </p:cNvPr>
          <p:cNvSpPr>
            <a:spLocks xmlns:a="http://schemas.openxmlformats.org/drawingml/2006/main" noGrp="1"/>
          </p:cNvSpPr>
          <p:nvPr/>
        </p:nvSpPr>
        <p:spPr>
          <a:xfrm xmlns:a="http://schemas.openxmlformats.org/drawingml/2006/main">
            <a:off x="9382125" y="4772025"/>
            <a:ext cx="2276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HUMAN GATE</a:t>
            </a:r>
          </a:p>
        </p:txBody>
      </p:sp>
      <p:sp>
        <p:nvSpPr>
          <p:cNvPr id="30" name="b6_text_144">
            <a:extLst xmlns:a="http://schemas.openxmlformats.org/drawingml/2006/main">
              <a:ext uri="{FF2B5EF4-FFF2-40B4-BE49-F238E27FC236}">
                <a16:creationId xmlns:a16="http://schemas.microsoft.com/office/drawing/2014/main" id="{CC67B66D-4A07-4338-8A22-025C93600A98}"/>
              </a:ext>
            </a:extLst>
          </p:cNvPr>
          <p:cNvSpPr>
            <a:spLocks xmlns:a="http://schemas.openxmlformats.org/drawingml/2006/main" noGrp="1"/>
          </p:cNvSpPr>
          <p:nvPr/>
        </p:nvSpPr>
        <p:spPr>
          <a:xfrm xmlns:a="http://schemas.openxmlformats.org/drawingml/2006/main">
            <a:off x="6600825" y="5229225"/>
            <a:ext cx="505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Approve or reject against defined policy</a:t>
            </a:r>
          </a:p>
        </p:txBody>
      </p:sp>
      <p:sp>
        <p:nvSpPr>
          <p:cNvPr id="31" name="b6_text_145">
            <a:extLst xmlns:a="http://schemas.openxmlformats.org/drawingml/2006/main">
              <a:ext uri="{FF2B5EF4-FFF2-40B4-BE49-F238E27FC236}">
                <a16:creationId xmlns:a16="http://schemas.microsoft.com/office/drawing/2014/main" id="{E42D4E96-C288-4417-A942-4A06CD85FF75}"/>
              </a:ext>
            </a:extLst>
          </p:cNvPr>
          <p:cNvSpPr>
            <a:spLocks xmlns:a="http://schemas.openxmlformats.org/drawingml/2006/main" noGrp="1"/>
          </p:cNvSpPr>
          <p:nvPr/>
        </p:nvSpPr>
        <p:spPr>
          <a:xfrm xmlns:a="http://schemas.openxmlformats.org/drawingml/2006/main">
            <a:off x="533400" y="58388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5F8FC"/>
                </a:solidFill>
                <a:latin typeface="Arial"/>
                <a:ea typeface="Arial"/>
                <a:cs typeface="Arial"/>
              </a:defRPr>
            </a:pPr>
            <a:r>
              <a:rPr sz="2250" b="1">
                <a:solidFill>
                  <a:srgbClr val="F5F8FC"/>
                </a:solidFill>
                <a:latin typeface="Arial"/>
                <a:ea typeface="Arial"/>
                <a:cs typeface="Arial"/>
              </a:rPr>
              <a:t>Models propose. Evidence controls the trust decision.</a:t>
            </a:r>
          </a:p>
        </p:txBody>
      </p:sp>
    </p:spTree>
    <p:extLst>
      <p:ext uri="{BB962C8B-B14F-4D97-AF65-F5344CB8AC3E}">
        <p14:creationId xmlns:p14="http://schemas.microsoft.com/office/powerpoint/2010/main" val="1105894869"/>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right)">
                                      <p:cBhvr>
                                        <p:cTn id="13" dur="35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right)">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right)">
                                      <p:cBhvr>
                                        <p:cTn id="46" dur="350"/>
                                        <p:tgtEl>
                                          <p:spTgt spid="18"/>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right)">
                                      <p:cBhvr>
                                        <p:cTn id="49" dur="350"/>
                                        <p:tgtEl>
                                          <p:spTgt spid="19"/>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right)">
                                      <p:cBhvr>
                                        <p:cTn id="52" dur="350"/>
                                        <p:tgtEl>
                                          <p:spTgt spid="20"/>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right)">
                                      <p:cBhvr>
                                        <p:cTn id="55" dur="3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3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30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3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00"/>
                                        <p:tgtEl>
                                          <p:spTgt spid="27"/>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wipe(right)">
                                      <p:cBhvr>
                                        <p:cTn id="80" dur="3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1" name="b0_text_146">
            <a:extLst xmlns:a="http://schemas.openxmlformats.org/drawingml/2006/main">
              <a:ext uri="{FF2B5EF4-FFF2-40B4-BE49-F238E27FC236}">
                <a16:creationId xmlns:a16="http://schemas.microsoft.com/office/drawing/2014/main" id="{9D1CA8FD-33F9-4C3E-9770-71FE15533A48}"/>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06  /  PROTOTYPE / MVP / DEMONSTRATION</a:t>
            </a:r>
          </a:p>
        </p:txBody>
      </p:sp>
      <p:sp>
        <p:nvSpPr>
          <p:cNvPr id="2" name="b0_headline_147">
            <a:extLst xmlns:a="http://schemas.openxmlformats.org/drawingml/2006/main">
              <a:ext uri="{FF2B5EF4-FFF2-40B4-BE49-F238E27FC236}">
                <a16:creationId xmlns:a16="http://schemas.microsoft.com/office/drawing/2014/main" id="{924E8AD5-ED3B-4DF3-866F-71F29BA1E391}"/>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Architecture first. Integrated MVP next.</a:t>
            </a:r>
          </a:p>
        </p:txBody>
      </p:sp>
      <p:sp>
        <p:nvSpPr>
          <p:cNvPr id="3" name="b0_flow_148">
            <a:extLst xmlns:a="http://schemas.openxmlformats.org/drawingml/2006/main">
              <a:ext uri="{FF2B5EF4-FFF2-40B4-BE49-F238E27FC236}">
                <a16:creationId xmlns:a16="http://schemas.microsoft.com/office/drawing/2014/main" id="{D3EE5BC3-99EC-4893-9AA7-DFB106D4A8D9}"/>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49">
            <a:extLst xmlns:a="http://schemas.openxmlformats.org/drawingml/2006/main">
              <a:ext uri="{FF2B5EF4-FFF2-40B4-BE49-F238E27FC236}">
                <a16:creationId xmlns:a16="http://schemas.microsoft.com/office/drawing/2014/main" id="{DFFDE3B6-E07A-41BB-AE6C-A3E1F6DFAE77}"/>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50">
            <a:extLst xmlns:a="http://schemas.openxmlformats.org/drawingml/2006/main">
              <a:ext uri="{FF2B5EF4-FFF2-40B4-BE49-F238E27FC236}">
                <a16:creationId xmlns:a16="http://schemas.microsoft.com/office/drawing/2014/main" id="{C7BB565C-EB7F-45B4-AAD7-7E3DA8F07A40}"/>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06</a:t>
            </a:r>
          </a:p>
        </p:txBody>
      </p:sp>
      <p:sp>
        <p:nvSpPr>
          <p:cNvPr id="6" name="b0_text_151">
            <a:extLst xmlns:a="http://schemas.openxmlformats.org/drawingml/2006/main">
              <a:ext uri="{FF2B5EF4-FFF2-40B4-BE49-F238E27FC236}">
                <a16:creationId xmlns:a16="http://schemas.microsoft.com/office/drawing/2014/main" id="{EB3C41DE-83FF-4D21-9C43-3FF529BC7B53}"/>
              </a:ext>
            </a:extLst>
          </p:cNvPr>
          <p:cNvSpPr>
            <a:spLocks xmlns:a="http://schemas.openxmlformats.org/drawingml/2006/main" noGrp="1"/>
          </p:cNvSpPr>
          <p:nvPr/>
        </p:nvSpPr>
        <p:spPr>
          <a:xfrm xmlns:a="http://schemas.openxmlformats.org/drawingml/2006/main">
            <a:off x="533400" y="18002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CURRENT STATUS: RESEARCH &amp; DEVELOPMENT</a:t>
            </a:r>
          </a:p>
        </p:txBody>
      </p:sp>
      <p:sp>
        <p:nvSpPr>
          <p:cNvPr id="7" name="b1_flow_152">
            <a:extLst xmlns:a="http://schemas.openxmlformats.org/drawingml/2006/main">
              <a:ext uri="{FF2B5EF4-FFF2-40B4-BE49-F238E27FC236}">
                <a16:creationId xmlns:a16="http://schemas.microsoft.com/office/drawing/2014/main" id="{A353A1AD-6FEF-4D35-8523-7FE4B1CF6E31}"/>
              </a:ext>
            </a:extLst>
          </p:cNvPr>
          <p:cNvSpPr>
            <a:spLocks xmlns:a="http://schemas.openxmlformats.org/drawingml/2006/main" noGrp="1"/>
          </p:cNvSpPr>
          <p:nvPr/>
        </p:nvSpPr>
        <p:spPr>
          <a:xfrm xmlns:a="http://schemas.openxmlformats.org/drawingml/2006/main">
            <a:off x="533400"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text_153">
            <a:extLst xmlns:a="http://schemas.openxmlformats.org/drawingml/2006/main">
              <a:ext uri="{FF2B5EF4-FFF2-40B4-BE49-F238E27FC236}">
                <a16:creationId xmlns:a16="http://schemas.microsoft.com/office/drawing/2014/main" id="{40743413-1108-4443-A4A9-EB1CE7871E0C}"/>
              </a:ext>
            </a:extLst>
          </p:cNvPr>
          <p:cNvSpPr>
            <a:spLocks xmlns:a="http://schemas.openxmlformats.org/drawingml/2006/main" noGrp="1"/>
          </p:cNvSpPr>
          <p:nvPr/>
        </p:nvSpPr>
        <p:spPr>
          <a:xfrm xmlns:a="http://schemas.openxmlformats.org/drawingml/2006/main">
            <a:off x="53340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COMPLETED</a:t>
            </a:r>
          </a:p>
        </p:txBody>
      </p:sp>
      <p:sp>
        <p:nvSpPr>
          <p:cNvPr id="9" name="b1_text_154">
            <a:extLst xmlns:a="http://schemas.openxmlformats.org/drawingml/2006/main">
              <a:ext uri="{FF2B5EF4-FFF2-40B4-BE49-F238E27FC236}">
                <a16:creationId xmlns:a16="http://schemas.microsoft.com/office/drawing/2014/main" id="{49B342B0-8B06-442F-94AF-BC23C497AE4F}"/>
              </a:ext>
            </a:extLst>
          </p:cNvPr>
          <p:cNvSpPr>
            <a:spLocks xmlns:a="http://schemas.openxmlformats.org/drawingml/2006/main" noGrp="1"/>
          </p:cNvSpPr>
          <p:nvPr/>
        </p:nvSpPr>
        <p:spPr>
          <a:xfrm xmlns:a="http://schemas.openxmlformats.org/drawingml/2006/main">
            <a:off x="53340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Research</a:t>
            </a:r>
          </a:p>
        </p:txBody>
      </p:sp>
      <p:sp>
        <p:nvSpPr>
          <p:cNvPr id="10" name="b1_text_155">
            <a:extLst xmlns:a="http://schemas.openxmlformats.org/drawingml/2006/main">
              <a:ext uri="{FF2B5EF4-FFF2-40B4-BE49-F238E27FC236}">
                <a16:creationId xmlns:a16="http://schemas.microsoft.com/office/drawing/2014/main" id="{B857E29A-C4AC-4810-9976-B478EF424B24}"/>
              </a:ext>
            </a:extLst>
          </p:cNvPr>
          <p:cNvSpPr>
            <a:spLocks xmlns:a="http://schemas.openxmlformats.org/drawingml/2006/main" noGrp="1"/>
          </p:cNvSpPr>
          <p:nvPr/>
        </p:nvSpPr>
        <p:spPr>
          <a:xfrm xmlns:a="http://schemas.openxmlformats.org/drawingml/2006/main">
            <a:off x="53340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Concept defined</a:t>
            </a:r>
          </a:p>
        </p:txBody>
      </p:sp>
      <p:sp>
        <p:nvSpPr>
          <p:cNvPr id="11" name="b1_flow_156">
            <a:extLst xmlns:a="http://schemas.openxmlformats.org/drawingml/2006/main">
              <a:ext uri="{FF2B5EF4-FFF2-40B4-BE49-F238E27FC236}">
                <a16:creationId xmlns:a16="http://schemas.microsoft.com/office/drawing/2014/main" id="{6E642E36-216E-4C75-A241-8452F32BC632}"/>
              </a:ext>
            </a:extLst>
          </p:cNvPr>
          <p:cNvSpPr>
            <a:spLocks xmlns:a="http://schemas.openxmlformats.org/drawingml/2006/main" noGrp="1"/>
          </p:cNvSpPr>
          <p:nvPr/>
        </p:nvSpPr>
        <p:spPr>
          <a:xfrm xmlns:a="http://schemas.openxmlformats.org/drawingml/2006/main">
            <a:off x="2790825"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2" name="b1_text_157">
            <a:extLst xmlns:a="http://schemas.openxmlformats.org/drawingml/2006/main">
              <a:ext uri="{FF2B5EF4-FFF2-40B4-BE49-F238E27FC236}">
                <a16:creationId xmlns:a16="http://schemas.microsoft.com/office/drawing/2014/main" id="{A00AB02F-950D-4674-985D-FDBBDFA76500}"/>
              </a:ext>
            </a:extLst>
          </p:cNvPr>
          <p:cNvSpPr>
            <a:spLocks xmlns:a="http://schemas.openxmlformats.org/drawingml/2006/main" noGrp="1"/>
          </p:cNvSpPr>
          <p:nvPr/>
        </p:nvSpPr>
        <p:spPr>
          <a:xfrm xmlns:a="http://schemas.openxmlformats.org/drawingml/2006/main">
            <a:off x="2790825"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 PROGRESS</a:t>
            </a:r>
          </a:p>
        </p:txBody>
      </p:sp>
      <p:sp>
        <p:nvSpPr>
          <p:cNvPr id="13" name="b1_text_158">
            <a:extLst xmlns:a="http://schemas.openxmlformats.org/drawingml/2006/main">
              <a:ext uri="{FF2B5EF4-FFF2-40B4-BE49-F238E27FC236}">
                <a16:creationId xmlns:a16="http://schemas.microsoft.com/office/drawing/2014/main" id="{32A52ED6-96A2-4A69-B4DC-908EA1CEC0EC}"/>
              </a:ext>
            </a:extLst>
          </p:cNvPr>
          <p:cNvSpPr>
            <a:spLocks xmlns:a="http://schemas.openxmlformats.org/drawingml/2006/main" noGrp="1"/>
          </p:cNvSpPr>
          <p:nvPr/>
        </p:nvSpPr>
        <p:spPr>
          <a:xfrm xmlns:a="http://schemas.openxmlformats.org/drawingml/2006/main">
            <a:off x="2790825"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Architecture</a:t>
            </a:r>
          </a:p>
        </p:txBody>
      </p:sp>
      <p:sp>
        <p:nvSpPr>
          <p:cNvPr id="14" name="b1_text_159">
            <a:extLst xmlns:a="http://schemas.openxmlformats.org/drawingml/2006/main">
              <a:ext uri="{FF2B5EF4-FFF2-40B4-BE49-F238E27FC236}">
                <a16:creationId xmlns:a16="http://schemas.microsoft.com/office/drawing/2014/main" id="{9893B77A-31F1-430D-9CAF-3333B7EDE48A}"/>
              </a:ext>
            </a:extLst>
          </p:cNvPr>
          <p:cNvSpPr>
            <a:spLocks xmlns:a="http://schemas.openxmlformats.org/drawingml/2006/main" noGrp="1"/>
          </p:cNvSpPr>
          <p:nvPr/>
        </p:nvSpPr>
        <p:spPr>
          <a:xfrm xmlns:a="http://schemas.openxmlformats.org/drawingml/2006/main">
            <a:off x="2790825"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Context + gate design</a:t>
            </a:r>
          </a:p>
        </p:txBody>
      </p:sp>
      <p:sp>
        <p:nvSpPr>
          <p:cNvPr id="15" name="b2_flow_160">
            <a:extLst xmlns:a="http://schemas.openxmlformats.org/drawingml/2006/main">
              <a:ext uri="{FF2B5EF4-FFF2-40B4-BE49-F238E27FC236}">
                <a16:creationId xmlns:a16="http://schemas.microsoft.com/office/drawing/2014/main" id="{2947475A-7756-4C4F-89D8-C269F621C632}"/>
              </a:ext>
            </a:extLst>
          </p:cNvPr>
          <p:cNvSpPr>
            <a:spLocks xmlns:a="http://schemas.openxmlformats.org/drawingml/2006/main" noGrp="1"/>
          </p:cNvSpPr>
          <p:nvPr/>
        </p:nvSpPr>
        <p:spPr>
          <a:xfrm xmlns:a="http://schemas.openxmlformats.org/drawingml/2006/main">
            <a:off x="5048250"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6" name="b2_text_161">
            <a:extLst xmlns:a="http://schemas.openxmlformats.org/drawingml/2006/main">
              <a:ext uri="{FF2B5EF4-FFF2-40B4-BE49-F238E27FC236}">
                <a16:creationId xmlns:a16="http://schemas.microsoft.com/office/drawing/2014/main" id="{A0A46AC7-7693-4098-A2A3-4182DF5D4091}"/>
              </a:ext>
            </a:extLst>
          </p:cNvPr>
          <p:cNvSpPr>
            <a:spLocks xmlns:a="http://schemas.openxmlformats.org/drawingml/2006/main" noGrp="1"/>
          </p:cNvSpPr>
          <p:nvPr/>
        </p:nvSpPr>
        <p:spPr>
          <a:xfrm xmlns:a="http://schemas.openxmlformats.org/drawingml/2006/main">
            <a:off x="504825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 PROGRESS</a:t>
            </a:r>
          </a:p>
        </p:txBody>
      </p:sp>
      <p:sp>
        <p:nvSpPr>
          <p:cNvPr id="17" name="b2_text_162">
            <a:extLst xmlns:a="http://schemas.openxmlformats.org/drawingml/2006/main">
              <a:ext uri="{FF2B5EF4-FFF2-40B4-BE49-F238E27FC236}">
                <a16:creationId xmlns:a16="http://schemas.microsoft.com/office/drawing/2014/main" id="{569A7080-4EC8-4F1E-BB5D-6283E45F8AF4}"/>
              </a:ext>
            </a:extLst>
          </p:cNvPr>
          <p:cNvSpPr>
            <a:spLocks xmlns:a="http://schemas.openxmlformats.org/drawingml/2006/main" noGrp="1"/>
          </p:cNvSpPr>
          <p:nvPr/>
        </p:nvSpPr>
        <p:spPr>
          <a:xfrm xmlns:a="http://schemas.openxmlformats.org/drawingml/2006/main">
            <a:off x="504825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Fine-tuning</a:t>
            </a:r>
          </a:p>
        </p:txBody>
      </p:sp>
      <p:sp>
        <p:nvSpPr>
          <p:cNvPr id="18" name="b2_text_163">
            <a:extLst xmlns:a="http://schemas.openxmlformats.org/drawingml/2006/main">
              <a:ext uri="{FF2B5EF4-FFF2-40B4-BE49-F238E27FC236}">
                <a16:creationId xmlns:a16="http://schemas.microsoft.com/office/drawing/2014/main" id="{312EB9B8-5F03-485C-9A77-0047E6D83BA7}"/>
              </a:ext>
            </a:extLst>
          </p:cNvPr>
          <p:cNvSpPr>
            <a:spLocks xmlns:a="http://schemas.openxmlformats.org/drawingml/2006/main" noGrp="1"/>
          </p:cNvSpPr>
          <p:nvPr/>
        </p:nvSpPr>
        <p:spPr>
          <a:xfrm xmlns:a="http://schemas.openxmlformats.org/drawingml/2006/main">
            <a:off x="504825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Model / workflow trials</a:t>
            </a:r>
          </a:p>
        </p:txBody>
      </p:sp>
      <p:sp>
        <p:nvSpPr>
          <p:cNvPr id="19" name="b3_flow_164">
            <a:extLst xmlns:a="http://schemas.openxmlformats.org/drawingml/2006/main">
              <a:ext uri="{FF2B5EF4-FFF2-40B4-BE49-F238E27FC236}">
                <a16:creationId xmlns:a16="http://schemas.microsoft.com/office/drawing/2014/main" id="{E3BA397B-9994-4F50-BFE5-5F3A7E68F91B}"/>
              </a:ext>
            </a:extLst>
          </p:cNvPr>
          <p:cNvSpPr>
            <a:spLocks xmlns:a="http://schemas.openxmlformats.org/drawingml/2006/main" noGrp="1"/>
          </p:cNvSpPr>
          <p:nvPr/>
        </p:nvSpPr>
        <p:spPr>
          <a:xfrm xmlns:a="http://schemas.openxmlformats.org/drawingml/2006/main">
            <a:off x="7305675" y="2314575"/>
            <a:ext cx="2038350" cy="28575"/>
          </a:xfrm>
          <a:prstGeom xmlns:a="http://schemas.openxmlformats.org/drawingml/2006/main" prst="rect">
            <a:avLst/>
          </a:prstGeom>
          <a:solidFill xmlns:a="http://schemas.openxmlformats.org/drawingml/2006/main">
            <a:srgbClr val="BDCADA"/>
          </a:solidFill>
          <a:ln xmlns:a="http://schemas.openxmlformats.org/drawingml/2006/main" w="0">
            <a:noFill/>
          </a:ln>
        </p:spPr>
      </p:sp>
      <p:sp>
        <p:nvSpPr>
          <p:cNvPr id="20" name="b3_text_165">
            <a:extLst xmlns:a="http://schemas.openxmlformats.org/drawingml/2006/main">
              <a:ext uri="{FF2B5EF4-FFF2-40B4-BE49-F238E27FC236}">
                <a16:creationId xmlns:a16="http://schemas.microsoft.com/office/drawing/2014/main" id="{E131D6CD-CF2D-4426-8E5D-DEC0791E7EE1}"/>
              </a:ext>
            </a:extLst>
          </p:cNvPr>
          <p:cNvSpPr>
            <a:spLocks xmlns:a="http://schemas.openxmlformats.org/drawingml/2006/main" noGrp="1"/>
          </p:cNvSpPr>
          <p:nvPr/>
        </p:nvSpPr>
        <p:spPr>
          <a:xfrm xmlns:a="http://schemas.openxmlformats.org/drawingml/2006/main">
            <a:off x="7305675"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NEXT</a:t>
            </a:r>
          </a:p>
        </p:txBody>
      </p:sp>
      <p:sp>
        <p:nvSpPr>
          <p:cNvPr id="21" name="b3_text_166">
            <a:extLst xmlns:a="http://schemas.openxmlformats.org/drawingml/2006/main">
              <a:ext uri="{FF2B5EF4-FFF2-40B4-BE49-F238E27FC236}">
                <a16:creationId xmlns:a16="http://schemas.microsoft.com/office/drawing/2014/main" id="{8D3CAD6F-2D83-458A-BB9D-BF7B8AC2C4D5}"/>
              </a:ext>
            </a:extLst>
          </p:cNvPr>
          <p:cNvSpPr>
            <a:spLocks xmlns:a="http://schemas.openxmlformats.org/drawingml/2006/main" noGrp="1"/>
          </p:cNvSpPr>
          <p:nvPr/>
        </p:nvSpPr>
        <p:spPr>
          <a:xfrm xmlns:a="http://schemas.openxmlformats.org/drawingml/2006/main">
            <a:off x="7305675"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Integrated MVP</a:t>
            </a:r>
          </a:p>
        </p:txBody>
      </p:sp>
      <p:sp>
        <p:nvSpPr>
          <p:cNvPr id="22" name="b3_text_167">
            <a:extLst xmlns:a="http://schemas.openxmlformats.org/drawingml/2006/main">
              <a:ext uri="{FF2B5EF4-FFF2-40B4-BE49-F238E27FC236}">
                <a16:creationId xmlns:a16="http://schemas.microsoft.com/office/drawing/2014/main" id="{FEC0EDBE-C938-4CCE-961C-4DCCF4A2358C}"/>
              </a:ext>
            </a:extLst>
          </p:cNvPr>
          <p:cNvSpPr>
            <a:spLocks xmlns:a="http://schemas.openxmlformats.org/drawingml/2006/main" noGrp="1"/>
          </p:cNvSpPr>
          <p:nvPr/>
        </p:nvSpPr>
        <p:spPr>
          <a:xfrm xmlns:a="http://schemas.openxmlformats.org/drawingml/2006/main">
            <a:off x="7305675"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End-to-end loop</a:t>
            </a:r>
          </a:p>
        </p:txBody>
      </p:sp>
      <p:sp>
        <p:nvSpPr>
          <p:cNvPr id="23" name="b3_flow_168">
            <a:extLst xmlns:a="http://schemas.openxmlformats.org/drawingml/2006/main">
              <a:ext uri="{FF2B5EF4-FFF2-40B4-BE49-F238E27FC236}">
                <a16:creationId xmlns:a16="http://schemas.microsoft.com/office/drawing/2014/main" id="{CE2186DE-7221-4E7E-8CE0-09E72A125F2D}"/>
              </a:ext>
            </a:extLst>
          </p:cNvPr>
          <p:cNvSpPr>
            <a:spLocks xmlns:a="http://schemas.openxmlformats.org/drawingml/2006/main" noGrp="1"/>
          </p:cNvSpPr>
          <p:nvPr/>
        </p:nvSpPr>
        <p:spPr>
          <a:xfrm xmlns:a="http://schemas.openxmlformats.org/drawingml/2006/main">
            <a:off x="9563100" y="2314575"/>
            <a:ext cx="2038350" cy="28575"/>
          </a:xfrm>
          <a:prstGeom xmlns:a="http://schemas.openxmlformats.org/drawingml/2006/main" prst="rect">
            <a:avLst/>
          </a:prstGeom>
          <a:solidFill xmlns:a="http://schemas.openxmlformats.org/drawingml/2006/main">
            <a:srgbClr val="BDCADA"/>
          </a:solidFill>
          <a:ln xmlns:a="http://schemas.openxmlformats.org/drawingml/2006/main" w="0">
            <a:noFill/>
          </a:ln>
        </p:spPr>
      </p:sp>
      <p:sp>
        <p:nvSpPr>
          <p:cNvPr id="24" name="b3_text_169">
            <a:extLst xmlns:a="http://schemas.openxmlformats.org/drawingml/2006/main">
              <a:ext uri="{FF2B5EF4-FFF2-40B4-BE49-F238E27FC236}">
                <a16:creationId xmlns:a16="http://schemas.microsoft.com/office/drawing/2014/main" id="{0D3F698D-212A-423E-9DCD-489F7FA3C9DF}"/>
              </a:ext>
            </a:extLst>
          </p:cNvPr>
          <p:cNvSpPr>
            <a:spLocks xmlns:a="http://schemas.openxmlformats.org/drawingml/2006/main" noGrp="1"/>
          </p:cNvSpPr>
          <p:nvPr/>
        </p:nvSpPr>
        <p:spPr>
          <a:xfrm xmlns:a="http://schemas.openxmlformats.org/drawingml/2006/main">
            <a:off x="956310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FUTURE</a:t>
            </a:r>
          </a:p>
        </p:txBody>
      </p:sp>
      <p:sp>
        <p:nvSpPr>
          <p:cNvPr id="25" name="b3_text_170">
            <a:extLst xmlns:a="http://schemas.openxmlformats.org/drawingml/2006/main">
              <a:ext uri="{FF2B5EF4-FFF2-40B4-BE49-F238E27FC236}">
                <a16:creationId xmlns:a16="http://schemas.microsoft.com/office/drawing/2014/main" id="{3E429818-2990-40D1-A084-983033548C7C}"/>
              </a:ext>
            </a:extLst>
          </p:cNvPr>
          <p:cNvSpPr>
            <a:spLocks xmlns:a="http://schemas.openxmlformats.org/drawingml/2006/main" noGrp="1"/>
          </p:cNvSpPr>
          <p:nvPr/>
        </p:nvSpPr>
        <p:spPr>
          <a:xfrm xmlns:a="http://schemas.openxmlformats.org/drawingml/2006/main">
            <a:off x="956310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Controlled pilot</a:t>
            </a:r>
          </a:p>
        </p:txBody>
      </p:sp>
      <p:sp>
        <p:nvSpPr>
          <p:cNvPr id="26" name="b3_text_171">
            <a:extLst xmlns:a="http://schemas.openxmlformats.org/drawingml/2006/main">
              <a:ext uri="{FF2B5EF4-FFF2-40B4-BE49-F238E27FC236}">
                <a16:creationId xmlns:a16="http://schemas.microsoft.com/office/drawing/2014/main" id="{64A8F378-1588-48C7-ACF3-0BD38F65F4E5}"/>
              </a:ext>
            </a:extLst>
          </p:cNvPr>
          <p:cNvSpPr>
            <a:spLocks xmlns:a="http://schemas.openxmlformats.org/drawingml/2006/main" noGrp="1"/>
          </p:cNvSpPr>
          <p:nvPr/>
        </p:nvSpPr>
        <p:spPr>
          <a:xfrm xmlns:a="http://schemas.openxmlformats.org/drawingml/2006/main">
            <a:off x="956310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External validation</a:t>
            </a:r>
          </a:p>
        </p:txBody>
      </p:sp>
      <p:sp>
        <p:nvSpPr>
          <p:cNvPr id="27" name="b4_text_172">
            <a:extLst xmlns:a="http://schemas.openxmlformats.org/drawingml/2006/main">
              <a:ext uri="{FF2B5EF4-FFF2-40B4-BE49-F238E27FC236}">
                <a16:creationId xmlns:a16="http://schemas.microsoft.com/office/drawing/2014/main" id="{F422B7D4-5904-41A6-B76C-B18FC169D375}"/>
              </a:ext>
            </a:extLst>
          </p:cNvPr>
          <p:cNvSpPr>
            <a:spLocks xmlns:a="http://schemas.openxmlformats.org/drawingml/2006/main" noGrp="1"/>
          </p:cNvSpPr>
          <p:nvPr/>
        </p:nvSpPr>
        <p:spPr>
          <a:xfrm xmlns:a="http://schemas.openxmlformats.org/drawingml/2006/main">
            <a:off x="533400" y="44577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PLANNED MVP VALIDATION FLOW</a:t>
            </a:r>
          </a:p>
        </p:txBody>
      </p:sp>
      <p:sp>
        <p:nvSpPr>
          <p:cNvPr id="28" name="b4_text_173">
            <a:extLst xmlns:a="http://schemas.openxmlformats.org/drawingml/2006/main">
              <a:ext uri="{FF2B5EF4-FFF2-40B4-BE49-F238E27FC236}">
                <a16:creationId xmlns:a16="http://schemas.microsoft.com/office/drawing/2014/main" id="{849ED739-C049-4BCB-AD15-F701D3D17257}"/>
              </a:ext>
            </a:extLst>
          </p:cNvPr>
          <p:cNvSpPr>
            <a:spLocks xmlns:a="http://schemas.openxmlformats.org/drawingml/2006/main" noGrp="1"/>
          </p:cNvSpPr>
          <p:nvPr/>
        </p:nvSpPr>
        <p:spPr>
          <a:xfrm xmlns:a="http://schemas.openxmlformats.org/drawingml/2006/main">
            <a:off x="533400" y="4895850"/>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5F8FC"/>
                </a:solidFill>
                <a:latin typeface="Arial"/>
                <a:ea typeface="Arial"/>
                <a:cs typeface="Arial"/>
              </a:defRPr>
            </a:pPr>
            <a:r>
              <a:rPr sz="1875" b="0">
                <a:solidFill>
                  <a:srgbClr val="F5F8FC"/>
                </a:solidFill>
                <a:latin typeface="Arial"/>
                <a:ea typeface="Arial"/>
                <a:cs typeface="Arial"/>
              </a:rPr>
              <a:t>Safe public / synthetic repo → controlled vulnerability → context → proposed change</a:t>
            </a:r>
          </a:p>
        </p:txBody>
      </p:sp>
      <p:sp>
        <p:nvSpPr>
          <p:cNvPr id="29" name="b4_text_174">
            <a:extLst xmlns:a="http://schemas.openxmlformats.org/drawingml/2006/main">
              <a:ext uri="{FF2B5EF4-FFF2-40B4-BE49-F238E27FC236}">
                <a16:creationId xmlns:a16="http://schemas.microsoft.com/office/drawing/2014/main" id="{F55B1745-981D-4EC4-A221-FE8AF574D3B4}"/>
              </a:ext>
            </a:extLst>
          </p:cNvPr>
          <p:cNvSpPr>
            <a:spLocks xmlns:a="http://schemas.openxmlformats.org/drawingml/2006/main" noGrp="1"/>
          </p:cNvSpPr>
          <p:nvPr/>
        </p:nvSpPr>
        <p:spPr>
          <a:xfrm xmlns:a="http://schemas.openxmlformats.org/drawingml/2006/main">
            <a:off x="533400" y="5353050"/>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2D5F2"/>
                </a:solidFill>
                <a:latin typeface="Arial"/>
                <a:ea typeface="Arial"/>
                <a:cs typeface="Arial"/>
              </a:defRPr>
            </a:pPr>
            <a:r>
              <a:rPr sz="1875" b="1">
                <a:solidFill>
                  <a:srgbClr val="52D5F2"/>
                </a:solidFill>
                <a:latin typeface="Arial"/>
                <a:ea typeface="Arial"/>
                <a:cs typeface="Arial"/>
              </a:rPr>
              <a:t>Verification gates → evidence report → human approve / reject</a:t>
            </a:r>
          </a:p>
        </p:txBody>
      </p:sp>
      <p:sp>
        <p:nvSpPr>
          <p:cNvPr id="30" name="b4_text_175">
            <a:extLst xmlns:a="http://schemas.openxmlformats.org/drawingml/2006/main">
              <a:ext uri="{FF2B5EF4-FFF2-40B4-BE49-F238E27FC236}">
                <a16:creationId xmlns:a16="http://schemas.microsoft.com/office/drawing/2014/main" id="{8FA9FDC7-C103-4EC9-A5CB-D2B2DDFAA09A}"/>
              </a:ext>
            </a:extLst>
          </p:cNvPr>
          <p:cNvSpPr>
            <a:spLocks xmlns:a="http://schemas.openxmlformats.org/drawingml/2006/main" noGrp="1"/>
          </p:cNvSpPr>
          <p:nvPr/>
        </p:nvSpPr>
        <p:spPr>
          <a:xfrm xmlns:a="http://schemas.openxmlformats.org/drawingml/2006/main">
            <a:off x="533400" y="589597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5F8FC"/>
                </a:solidFill>
                <a:latin typeface="Arial"/>
                <a:ea typeface="Arial"/>
                <a:cs typeface="Arial"/>
              </a:defRPr>
            </a:pPr>
            <a:r>
              <a:rPr sz="2100" b="1">
                <a:solidFill>
                  <a:srgbClr val="F5F8FC"/>
                </a:solidFill>
                <a:latin typeface="Arial"/>
                <a:ea typeface="Arial"/>
                <a:cs typeface="Arial"/>
              </a:rPr>
              <a:t>Target: accept a change only after the required gates pass</a:t>
            </a:r>
          </a:p>
        </p:txBody>
      </p:sp>
    </p:spTree>
    <p:extLst>
      <p:ext uri="{BB962C8B-B14F-4D97-AF65-F5344CB8AC3E}">
        <p14:creationId xmlns:p14="http://schemas.microsoft.com/office/powerpoint/2010/main" val="2114201150"/>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right)">
                                      <p:cBhvr>
                                        <p:cTn id="19" dur="35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3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3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p:tgtEl>
                                          <p:spTgt spid="22"/>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right)">
                                      <p:cBhvr>
                                        <p:cTn id="59" dur="35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3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3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00"/>
                                        <p:tgtEl>
                                          <p:spTgt spid="2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3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3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3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6" name="b0_text_176">
            <a:extLst xmlns:a="http://schemas.openxmlformats.org/drawingml/2006/main">
              <a:ext uri="{FF2B5EF4-FFF2-40B4-BE49-F238E27FC236}">
                <a16:creationId xmlns:a16="http://schemas.microsoft.com/office/drawing/2014/main" id="{B5936ECA-D553-4162-8739-96B97812092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07  /  TARGET USERS &amp; USE CASES</a:t>
            </a:r>
          </a:p>
        </p:txBody>
      </p:sp>
      <p:sp>
        <p:nvSpPr>
          <p:cNvPr id="2" name="b0_headline_177">
            <a:extLst xmlns:a="http://schemas.openxmlformats.org/drawingml/2006/main">
              <a:ext uri="{FF2B5EF4-FFF2-40B4-BE49-F238E27FC236}">
                <a16:creationId xmlns:a16="http://schemas.microsoft.com/office/drawing/2014/main" id="{30C4B704-1187-4669-BC92-D5DBFE40F267}"/>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Frequent releases. Limited AppSec capacity.</a:t>
            </a:r>
          </a:p>
        </p:txBody>
      </p:sp>
      <p:sp>
        <p:nvSpPr>
          <p:cNvPr id="3" name="b0_flow_178">
            <a:extLst xmlns:a="http://schemas.openxmlformats.org/drawingml/2006/main">
              <a:ext uri="{FF2B5EF4-FFF2-40B4-BE49-F238E27FC236}">
                <a16:creationId xmlns:a16="http://schemas.microsoft.com/office/drawing/2014/main" id="{8E360257-4598-4F3E-A5A0-B77F193D5A2D}"/>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79">
            <a:extLst xmlns:a="http://schemas.openxmlformats.org/drawingml/2006/main">
              <a:ext uri="{FF2B5EF4-FFF2-40B4-BE49-F238E27FC236}">
                <a16:creationId xmlns:a16="http://schemas.microsoft.com/office/drawing/2014/main" id="{F066E7E6-D3CA-43FE-B3F2-F3F40E527CD6}"/>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80">
            <a:extLst xmlns:a="http://schemas.openxmlformats.org/drawingml/2006/main">
              <a:ext uri="{FF2B5EF4-FFF2-40B4-BE49-F238E27FC236}">
                <a16:creationId xmlns:a16="http://schemas.microsoft.com/office/drawing/2014/main" id="{F48385B3-5F1F-43A0-A81E-25569FABDCB9}"/>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07</a:t>
            </a:r>
          </a:p>
        </p:txBody>
      </p:sp>
      <p:sp>
        <p:nvSpPr>
          <p:cNvPr id="6" name="b1_text_181">
            <a:extLst xmlns:a="http://schemas.openxmlformats.org/drawingml/2006/main">
              <a:ext uri="{FF2B5EF4-FFF2-40B4-BE49-F238E27FC236}">
                <a16:creationId xmlns:a16="http://schemas.microsoft.com/office/drawing/2014/main" id="{80CB51AE-0E31-4903-92AB-81AE106A5D6A}"/>
              </a:ext>
            </a:extLst>
          </p:cNvPr>
          <p:cNvSpPr>
            <a:spLocks xmlns:a="http://schemas.openxmlformats.org/drawingml/2006/main" noGrp="1"/>
          </p:cNvSpPr>
          <p:nvPr/>
        </p:nvSpPr>
        <p:spPr>
          <a:xfrm xmlns:a="http://schemas.openxmlformats.org/drawingml/2006/main">
            <a:off x="533400" y="1914525"/>
            <a:ext cx="600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BEACHHEAD SEGMENT</a:t>
            </a:r>
          </a:p>
        </p:txBody>
      </p:sp>
      <p:sp>
        <p:nvSpPr>
          <p:cNvPr id="7" name="b1_text_182">
            <a:extLst xmlns:a="http://schemas.openxmlformats.org/drawingml/2006/main">
              <a:ext uri="{FF2B5EF4-FFF2-40B4-BE49-F238E27FC236}">
                <a16:creationId xmlns:a16="http://schemas.microsoft.com/office/drawing/2014/main" id="{12591AA4-0B3A-457A-BE2B-1C4FD0EAF4FE}"/>
              </a:ext>
            </a:extLst>
          </p:cNvPr>
          <p:cNvSpPr>
            <a:spLocks xmlns:a="http://schemas.openxmlformats.org/drawingml/2006/main" noGrp="1"/>
          </p:cNvSpPr>
          <p:nvPr/>
        </p:nvSpPr>
        <p:spPr>
          <a:xfrm xmlns:a="http://schemas.openxmlformats.org/drawingml/2006/main">
            <a:off x="533400" y="2400300"/>
            <a:ext cx="619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7650" b="1">
                <a:solidFill>
                  <a:srgbClr val="52D5F2"/>
                </a:solidFill>
                <a:latin typeface="Arial"/>
                <a:ea typeface="Arial"/>
                <a:cs typeface="Arial"/>
              </a:defRPr>
            </a:pPr>
            <a:r>
              <a:rPr sz="7650" b="1">
                <a:solidFill>
                  <a:srgbClr val="52D5F2"/>
                </a:solidFill>
                <a:latin typeface="Arial"/>
                <a:ea typeface="Arial"/>
                <a:cs typeface="Arial"/>
              </a:rPr>
              <a:t>10–200</a:t>
            </a:r>
          </a:p>
        </p:txBody>
      </p:sp>
      <p:sp>
        <p:nvSpPr>
          <p:cNvPr id="8" name="b1_text_183">
            <a:extLst xmlns:a="http://schemas.openxmlformats.org/drawingml/2006/main">
              <a:ext uri="{FF2B5EF4-FFF2-40B4-BE49-F238E27FC236}">
                <a16:creationId xmlns:a16="http://schemas.microsoft.com/office/drawing/2014/main" id="{3F175970-D6AC-476D-99CD-2FA8D8A7FF6A}"/>
              </a:ext>
            </a:extLst>
          </p:cNvPr>
          <p:cNvSpPr>
            <a:spLocks xmlns:a="http://schemas.openxmlformats.org/drawingml/2006/main" noGrp="1"/>
          </p:cNvSpPr>
          <p:nvPr/>
        </p:nvSpPr>
        <p:spPr>
          <a:xfrm xmlns:a="http://schemas.openxmlformats.org/drawingml/2006/main">
            <a:off x="533400" y="3667125"/>
            <a:ext cx="600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F5F8FC"/>
                </a:solidFill>
                <a:latin typeface="Arial"/>
                <a:ea typeface="Arial"/>
                <a:cs typeface="Arial"/>
              </a:defRPr>
            </a:pPr>
            <a:r>
              <a:rPr sz="2550" b="1">
                <a:solidFill>
                  <a:srgbClr val="F5F8FC"/>
                </a:solidFill>
                <a:latin typeface="Arial"/>
                <a:ea typeface="Arial"/>
                <a:cs typeface="Arial"/>
              </a:rPr>
              <a:t>engineers per team</a:t>
            </a:r>
          </a:p>
        </p:txBody>
      </p:sp>
      <p:sp>
        <p:nvSpPr>
          <p:cNvPr id="9" name="b2_text_184">
            <a:extLst xmlns:a="http://schemas.openxmlformats.org/drawingml/2006/main">
              <a:ext uri="{FF2B5EF4-FFF2-40B4-BE49-F238E27FC236}">
                <a16:creationId xmlns:a16="http://schemas.microsoft.com/office/drawing/2014/main" id="{C562B8A1-41D2-4D6F-8AE7-979420BD9773}"/>
              </a:ext>
            </a:extLst>
          </p:cNvPr>
          <p:cNvSpPr>
            <a:spLocks xmlns:a="http://schemas.openxmlformats.org/drawingml/2006/main" noGrp="1"/>
          </p:cNvSpPr>
          <p:nvPr/>
        </p:nvSpPr>
        <p:spPr>
          <a:xfrm xmlns:a="http://schemas.openxmlformats.org/drawingml/2006/main">
            <a:off x="533400" y="4371975"/>
            <a:ext cx="5429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Frequent releases</a:t>
            </a:r>
          </a:p>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AI-assisted development</a:t>
            </a:r>
          </a:p>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Limited dedicated AppSec staff</a:t>
            </a:r>
          </a:p>
        </p:txBody>
      </p:sp>
      <p:sp>
        <p:nvSpPr>
          <p:cNvPr id="10" name="b3_text_185">
            <a:extLst xmlns:a="http://schemas.openxmlformats.org/drawingml/2006/main">
              <a:ext uri="{FF2B5EF4-FFF2-40B4-BE49-F238E27FC236}">
                <a16:creationId xmlns:a16="http://schemas.microsoft.com/office/drawing/2014/main" id="{0E56C035-6963-474E-A7AC-9F86D868EFF1}"/>
              </a:ext>
            </a:extLst>
          </p:cNvPr>
          <p:cNvSpPr>
            <a:spLocks xmlns:a="http://schemas.openxmlformats.org/drawingml/2006/main" noGrp="1"/>
          </p:cNvSpPr>
          <p:nvPr/>
        </p:nvSpPr>
        <p:spPr>
          <a:xfrm xmlns:a="http://schemas.openxmlformats.org/drawingml/2006/main">
            <a:off x="7038975" y="1943100"/>
            <a:ext cx="4619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PRIMARY USERS</a:t>
            </a:r>
          </a:p>
        </p:txBody>
      </p:sp>
      <p:sp>
        <p:nvSpPr>
          <p:cNvPr id="11" name="b3_text_186">
            <a:extLst xmlns:a="http://schemas.openxmlformats.org/drawingml/2006/main">
              <a:ext uri="{FF2B5EF4-FFF2-40B4-BE49-F238E27FC236}">
                <a16:creationId xmlns:a16="http://schemas.microsoft.com/office/drawing/2014/main" id="{57A2A9CC-8114-4C72-8F75-D2EC08055F0B}"/>
              </a:ext>
            </a:extLst>
          </p:cNvPr>
          <p:cNvSpPr>
            <a:spLocks xmlns:a="http://schemas.openxmlformats.org/drawingml/2006/main" noGrp="1"/>
          </p:cNvSpPr>
          <p:nvPr/>
        </p:nvSpPr>
        <p:spPr>
          <a:xfrm xmlns:a="http://schemas.openxmlformats.org/drawingml/2006/main">
            <a:off x="7038975" y="2333625"/>
            <a:ext cx="4619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Startup CTO / engineering lead</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Senior developer / security-minded founder</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Small AppSec team</a:t>
            </a:r>
          </a:p>
        </p:txBody>
      </p:sp>
      <p:sp>
        <p:nvSpPr>
          <p:cNvPr id="12" name="b4_text_187">
            <a:extLst xmlns:a="http://schemas.openxmlformats.org/drawingml/2006/main">
              <a:ext uri="{FF2B5EF4-FFF2-40B4-BE49-F238E27FC236}">
                <a16:creationId xmlns:a16="http://schemas.microsoft.com/office/drawing/2014/main" id="{BF0060FE-8C87-4F06-80AA-1E1998F27061}"/>
              </a:ext>
            </a:extLst>
          </p:cNvPr>
          <p:cNvSpPr>
            <a:spLocks xmlns:a="http://schemas.openxmlformats.org/drawingml/2006/main" noGrp="1"/>
          </p:cNvSpPr>
          <p:nvPr/>
        </p:nvSpPr>
        <p:spPr>
          <a:xfrm xmlns:a="http://schemas.openxmlformats.org/drawingml/2006/main">
            <a:off x="7038975" y="3657600"/>
            <a:ext cx="4619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WORKFLOWS</a:t>
            </a:r>
          </a:p>
        </p:txBody>
      </p:sp>
      <p:sp>
        <p:nvSpPr>
          <p:cNvPr id="13" name="b4_text_188">
            <a:extLst xmlns:a="http://schemas.openxmlformats.org/drawingml/2006/main">
              <a:ext uri="{FF2B5EF4-FFF2-40B4-BE49-F238E27FC236}">
                <a16:creationId xmlns:a16="http://schemas.microsoft.com/office/drawing/2014/main" id="{A8F0E2A4-D5F7-4EFA-B86D-9B6F61CDD5E7}"/>
              </a:ext>
            </a:extLst>
          </p:cNvPr>
          <p:cNvSpPr>
            <a:spLocks xmlns:a="http://schemas.openxmlformats.org/drawingml/2006/main" noGrp="1"/>
          </p:cNvSpPr>
          <p:nvPr/>
        </p:nvSpPr>
        <p:spPr>
          <a:xfrm xmlns:a="http://schemas.openxmlformats.org/drawingml/2006/main">
            <a:off x="7038975" y="4067175"/>
            <a:ext cx="4619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AI-generated PR / dependency upgrade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Security patch / release candidate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Onboarding and engineering context</a:t>
            </a:r>
          </a:p>
        </p:txBody>
      </p:sp>
      <p:sp>
        <p:nvSpPr>
          <p:cNvPr id="14" name="b4_flow_189">
            <a:extLst xmlns:a="http://schemas.openxmlformats.org/drawingml/2006/main">
              <a:ext uri="{FF2B5EF4-FFF2-40B4-BE49-F238E27FC236}">
                <a16:creationId xmlns:a16="http://schemas.microsoft.com/office/drawing/2014/main" id="{872EB7E0-8959-435C-95F2-9F0A130523CE}"/>
              </a:ext>
            </a:extLst>
          </p:cNvPr>
          <p:cNvSpPr>
            <a:spLocks xmlns:a="http://schemas.openxmlformats.org/drawingml/2006/main" noGrp="1"/>
          </p:cNvSpPr>
          <p:nvPr/>
        </p:nvSpPr>
        <p:spPr>
          <a:xfrm xmlns:a="http://schemas.openxmlformats.org/drawingml/2006/main">
            <a:off x="6600825" y="1952625"/>
            <a:ext cx="19050" cy="3590925"/>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5" name="b4_text_190">
            <a:extLst xmlns:a="http://schemas.openxmlformats.org/drawingml/2006/main">
              <a:ext uri="{FF2B5EF4-FFF2-40B4-BE49-F238E27FC236}">
                <a16:creationId xmlns:a16="http://schemas.microsoft.com/office/drawing/2014/main" id="{4E6705EE-7FB0-4D22-BF4E-11C94BEFBEB5}"/>
              </a:ext>
            </a:extLst>
          </p:cNvPr>
          <p:cNvSpPr>
            <a:spLocks xmlns:a="http://schemas.openxmlformats.org/drawingml/2006/main" noGrp="1"/>
          </p:cNvSpPr>
          <p:nvPr/>
        </p:nvSpPr>
        <p:spPr>
          <a:xfrm xmlns:a="http://schemas.openxmlformats.org/drawingml/2006/main">
            <a:off x="533400" y="582930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5F8FC"/>
                </a:solidFill>
                <a:latin typeface="Arial"/>
                <a:ea typeface="Arial"/>
                <a:cs typeface="Arial"/>
              </a:defRPr>
            </a:pPr>
            <a:r>
              <a:rPr sz="2250" b="1">
                <a:solidFill>
                  <a:srgbClr val="F5F8FC"/>
                </a:solidFill>
                <a:latin typeface="Arial"/>
                <a:ea typeface="Arial"/>
                <a:cs typeface="Arial"/>
              </a:rPr>
              <a:t>One assurance layer, with private context across reviews</a:t>
            </a:r>
          </a:p>
        </p:txBody>
      </p:sp>
    </p:spTree>
    <p:extLst>
      <p:ext uri="{BB962C8B-B14F-4D97-AF65-F5344CB8AC3E}">
        <p14:creationId xmlns:p14="http://schemas.microsoft.com/office/powerpoint/2010/main" val="810889503"/>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00"/>
                                        <p:tgtEl>
                                          <p:spTgt spid="13"/>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right)">
                                      <p:cBhvr>
                                        <p:cTn id="37" dur="3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4" name="b0_text_191">
            <a:extLst xmlns:a="http://schemas.openxmlformats.org/drawingml/2006/main">
              <a:ext uri="{FF2B5EF4-FFF2-40B4-BE49-F238E27FC236}">
                <a16:creationId xmlns:a16="http://schemas.microsoft.com/office/drawing/2014/main" id="{21F1F261-276E-4FAB-B75C-D9D5AAC9C6FB}"/>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08  /  IMPACT &amp; OUTCOMES</a:t>
            </a:r>
          </a:p>
        </p:txBody>
      </p:sp>
      <p:sp>
        <p:nvSpPr>
          <p:cNvPr id="2" name="b0_headline_192">
            <a:extLst xmlns:a="http://schemas.openxmlformats.org/drawingml/2006/main">
              <a:ext uri="{FF2B5EF4-FFF2-40B4-BE49-F238E27FC236}">
                <a16:creationId xmlns:a16="http://schemas.microsoft.com/office/drawing/2014/main" id="{E1B95957-EA35-4C2E-8BAD-B1B6487E1C78}"/>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Success needs a baseline and an evidence trail</a:t>
            </a:r>
          </a:p>
        </p:txBody>
      </p:sp>
      <p:sp>
        <p:nvSpPr>
          <p:cNvPr id="3" name="b0_flow_193">
            <a:extLst xmlns:a="http://schemas.openxmlformats.org/drawingml/2006/main">
              <a:ext uri="{FF2B5EF4-FFF2-40B4-BE49-F238E27FC236}">
                <a16:creationId xmlns:a16="http://schemas.microsoft.com/office/drawing/2014/main" id="{A32E0878-99CD-4277-811C-CA2FF2FB1EC5}"/>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94">
            <a:extLst xmlns:a="http://schemas.openxmlformats.org/drawingml/2006/main">
              <a:ext uri="{FF2B5EF4-FFF2-40B4-BE49-F238E27FC236}">
                <a16:creationId xmlns:a16="http://schemas.microsoft.com/office/drawing/2014/main" id="{31CD31B5-E804-4C2D-94FC-26CAE1EF5758}"/>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95">
            <a:extLst xmlns:a="http://schemas.openxmlformats.org/drawingml/2006/main">
              <a:ext uri="{FF2B5EF4-FFF2-40B4-BE49-F238E27FC236}">
                <a16:creationId xmlns:a16="http://schemas.microsoft.com/office/drawing/2014/main" id="{E2CC3D7B-0EA6-441C-81E0-5109503F8067}"/>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08</a:t>
            </a:r>
          </a:p>
        </p:txBody>
      </p:sp>
      <p:sp>
        <p:nvSpPr>
          <p:cNvPr id="6" name="b0_text_196">
            <a:extLst xmlns:a="http://schemas.openxmlformats.org/drawingml/2006/main">
              <a:ext uri="{FF2B5EF4-FFF2-40B4-BE49-F238E27FC236}">
                <a16:creationId xmlns:a16="http://schemas.microsoft.com/office/drawing/2014/main" id="{B54B693A-F49D-4366-BEBF-48F5896757A0}"/>
              </a:ext>
            </a:extLst>
          </p:cNvPr>
          <p:cNvSpPr>
            <a:spLocks xmlns:a="http://schemas.openxmlformats.org/drawingml/2006/main" noGrp="1"/>
          </p:cNvSpPr>
          <p:nvPr/>
        </p:nvSpPr>
        <p:spPr>
          <a:xfrm xmlns:a="http://schemas.openxmlformats.org/drawingml/2006/main">
            <a:off x="533400" y="17907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PLANNED VALIDATION METRICS / NO RESULTS CLAIMED</a:t>
            </a:r>
          </a:p>
        </p:txBody>
      </p:sp>
      <p:sp>
        <p:nvSpPr>
          <p:cNvPr id="7" name="b1_text_197">
            <a:extLst xmlns:a="http://schemas.openxmlformats.org/drawingml/2006/main">
              <a:ext uri="{FF2B5EF4-FFF2-40B4-BE49-F238E27FC236}">
                <a16:creationId xmlns:a16="http://schemas.microsoft.com/office/drawing/2014/main" id="{19CCAA89-AF27-47FD-96A0-DF42640DA092}"/>
              </a:ext>
            </a:extLst>
          </p:cNvPr>
          <p:cNvSpPr>
            <a:spLocks xmlns:a="http://schemas.openxmlformats.org/drawingml/2006/main" noGrp="1"/>
          </p:cNvSpPr>
          <p:nvPr/>
        </p:nvSpPr>
        <p:spPr>
          <a:xfrm xmlns:a="http://schemas.openxmlformats.org/drawingml/2006/main">
            <a:off x="533400" y="237172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TIME / EFFICIENCY</a:t>
            </a:r>
          </a:p>
        </p:txBody>
      </p:sp>
      <p:sp>
        <p:nvSpPr>
          <p:cNvPr id="8" name="b1_text_198">
            <a:extLst xmlns:a="http://schemas.openxmlformats.org/drawingml/2006/main">
              <a:ext uri="{FF2B5EF4-FFF2-40B4-BE49-F238E27FC236}">
                <a16:creationId xmlns:a16="http://schemas.microsoft.com/office/drawing/2014/main" id="{F1DE2DD6-DB63-4183-8C19-5789246F0635}"/>
              </a:ext>
            </a:extLst>
          </p:cNvPr>
          <p:cNvSpPr>
            <a:spLocks xmlns:a="http://schemas.openxmlformats.org/drawingml/2006/main" noGrp="1"/>
          </p:cNvSpPr>
          <p:nvPr/>
        </p:nvSpPr>
        <p:spPr>
          <a:xfrm xmlns:a="http://schemas.openxmlformats.org/drawingml/2006/main">
            <a:off x="533400" y="2771775"/>
            <a:ext cx="3457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Less review effort</a:t>
            </a:r>
          </a:p>
        </p:txBody>
      </p:sp>
      <p:sp>
        <p:nvSpPr>
          <p:cNvPr id="9" name="b1_text_199">
            <a:extLst xmlns:a="http://schemas.openxmlformats.org/drawingml/2006/main">
              <a:ext uri="{FF2B5EF4-FFF2-40B4-BE49-F238E27FC236}">
                <a16:creationId xmlns:a16="http://schemas.microsoft.com/office/drawing/2014/main" id="{18813B30-1A8F-4BFF-802C-079011B99D0D}"/>
              </a:ext>
            </a:extLst>
          </p:cNvPr>
          <p:cNvSpPr>
            <a:spLocks xmlns:a="http://schemas.openxmlformats.org/drawingml/2006/main" noGrp="1"/>
          </p:cNvSpPr>
          <p:nvPr/>
        </p:nvSpPr>
        <p:spPr>
          <a:xfrm xmlns:a="http://schemas.openxmlformats.org/drawingml/2006/main">
            <a:off x="533400" y="3362325"/>
            <a:ext cx="3457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Triage minutes: finding to decision</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Review hours per repository</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Tool switches and manual handoffs</a:t>
            </a:r>
          </a:p>
        </p:txBody>
      </p:sp>
      <p:sp>
        <p:nvSpPr>
          <p:cNvPr id="10" name="b2_text_200">
            <a:extLst xmlns:a="http://schemas.openxmlformats.org/drawingml/2006/main">
              <a:ext uri="{FF2B5EF4-FFF2-40B4-BE49-F238E27FC236}">
                <a16:creationId xmlns:a16="http://schemas.microsoft.com/office/drawing/2014/main" id="{74DE51E3-1FE0-4964-AC44-26614AC2FFA8}"/>
              </a:ext>
            </a:extLst>
          </p:cNvPr>
          <p:cNvSpPr>
            <a:spLocks xmlns:a="http://schemas.openxmlformats.org/drawingml/2006/main" noGrp="1"/>
          </p:cNvSpPr>
          <p:nvPr/>
        </p:nvSpPr>
        <p:spPr>
          <a:xfrm xmlns:a="http://schemas.openxmlformats.org/drawingml/2006/main">
            <a:off x="4333875" y="237172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SECURITY / VERIFICATION</a:t>
            </a:r>
          </a:p>
        </p:txBody>
      </p:sp>
      <p:sp>
        <p:nvSpPr>
          <p:cNvPr id="11" name="b2_text_201">
            <a:extLst xmlns:a="http://schemas.openxmlformats.org/drawingml/2006/main">
              <a:ext uri="{FF2B5EF4-FFF2-40B4-BE49-F238E27FC236}">
                <a16:creationId xmlns:a16="http://schemas.microsoft.com/office/drawing/2014/main" id="{8A1DEB3C-6B78-4216-8600-2D0FA2A04538}"/>
              </a:ext>
            </a:extLst>
          </p:cNvPr>
          <p:cNvSpPr>
            <a:spLocks xmlns:a="http://schemas.openxmlformats.org/drawingml/2006/main" noGrp="1"/>
          </p:cNvSpPr>
          <p:nvPr/>
        </p:nvSpPr>
        <p:spPr>
          <a:xfrm xmlns:a="http://schemas.openxmlformats.org/drawingml/2006/main">
            <a:off x="4333875" y="2771775"/>
            <a:ext cx="3457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More complete evidence</a:t>
            </a:r>
          </a:p>
        </p:txBody>
      </p:sp>
      <p:sp>
        <p:nvSpPr>
          <p:cNvPr id="12" name="b2_text_202">
            <a:extLst xmlns:a="http://schemas.openxmlformats.org/drawingml/2006/main">
              <a:ext uri="{FF2B5EF4-FFF2-40B4-BE49-F238E27FC236}">
                <a16:creationId xmlns:a16="http://schemas.microsoft.com/office/drawing/2014/main" id="{CF94D0A3-83AE-4411-BD4A-274A371BB03A}"/>
              </a:ext>
            </a:extLst>
          </p:cNvPr>
          <p:cNvSpPr>
            <a:spLocks xmlns:a="http://schemas.openxmlformats.org/drawingml/2006/main" noGrp="1"/>
          </p:cNvSpPr>
          <p:nvPr/>
        </p:nvSpPr>
        <p:spPr>
          <a:xfrm xmlns:a="http://schemas.openxmlformats.org/drawingml/2006/main">
            <a:off x="4333875" y="3362325"/>
            <a:ext cx="3457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Required gates satisfied (%)</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Unsafe dependency exposure time</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Failures, retries and false approvals</a:t>
            </a:r>
          </a:p>
        </p:txBody>
      </p:sp>
      <p:sp>
        <p:nvSpPr>
          <p:cNvPr id="13" name="b3_text_203">
            <a:extLst xmlns:a="http://schemas.openxmlformats.org/drawingml/2006/main">
              <a:ext uri="{FF2B5EF4-FFF2-40B4-BE49-F238E27FC236}">
                <a16:creationId xmlns:a16="http://schemas.microsoft.com/office/drawing/2014/main" id="{B10046DC-4A2A-42B2-B19D-E3B9B673A4FE}"/>
              </a:ext>
            </a:extLst>
          </p:cNvPr>
          <p:cNvSpPr>
            <a:spLocks xmlns:a="http://schemas.openxmlformats.org/drawingml/2006/main" noGrp="1"/>
          </p:cNvSpPr>
          <p:nvPr/>
        </p:nvSpPr>
        <p:spPr>
          <a:xfrm xmlns:a="http://schemas.openxmlformats.org/drawingml/2006/main">
            <a:off x="8134350" y="23717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CONTEXT / AUDIT</a:t>
            </a:r>
          </a:p>
        </p:txBody>
      </p:sp>
      <p:sp>
        <p:nvSpPr>
          <p:cNvPr id="14" name="b3_text_204">
            <a:extLst xmlns:a="http://schemas.openxmlformats.org/drawingml/2006/main">
              <a:ext uri="{FF2B5EF4-FFF2-40B4-BE49-F238E27FC236}">
                <a16:creationId xmlns:a16="http://schemas.microsoft.com/office/drawing/2014/main" id="{1CE6D1D4-86E2-4B3B-A4FD-41B250E90595}"/>
              </a:ext>
            </a:extLst>
          </p:cNvPr>
          <p:cNvSpPr>
            <a:spLocks xmlns:a="http://schemas.openxmlformats.org/drawingml/2006/main" noGrp="1"/>
          </p:cNvSpPr>
          <p:nvPr/>
        </p:nvSpPr>
        <p:spPr>
          <a:xfrm xmlns:a="http://schemas.openxmlformats.org/drawingml/2006/main">
            <a:off x="8134350" y="27717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Traceable decisions</a:t>
            </a:r>
          </a:p>
        </p:txBody>
      </p:sp>
      <p:sp>
        <p:nvSpPr>
          <p:cNvPr id="15" name="b3_text_205">
            <a:extLst xmlns:a="http://schemas.openxmlformats.org/drawingml/2006/main">
              <a:ext uri="{FF2B5EF4-FFF2-40B4-BE49-F238E27FC236}">
                <a16:creationId xmlns:a16="http://schemas.microsoft.com/office/drawing/2014/main" id="{D2B7A051-C774-4581-9349-35C3835B7885}"/>
              </a:ext>
            </a:extLst>
          </p:cNvPr>
          <p:cNvSpPr>
            <a:spLocks xmlns:a="http://schemas.openxmlformats.org/drawingml/2006/main" noGrp="1"/>
          </p:cNvSpPr>
          <p:nvPr/>
        </p:nvSpPr>
        <p:spPr>
          <a:xfrm xmlns:a="http://schemas.openxmlformats.org/drawingml/2006/main">
            <a:off x="8134350" y="33623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Evidence-packet completeness</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Validated context preserved</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Decision and memory provenance</a:t>
            </a:r>
          </a:p>
        </p:txBody>
      </p:sp>
      <p:sp>
        <p:nvSpPr>
          <p:cNvPr id="16" name="b4_flow_206">
            <a:extLst xmlns:a="http://schemas.openxmlformats.org/drawingml/2006/main">
              <a:ext uri="{FF2B5EF4-FFF2-40B4-BE49-F238E27FC236}">
                <a16:creationId xmlns:a16="http://schemas.microsoft.com/office/drawing/2014/main" id="{D8AC2760-5BA2-4621-A3D1-B62C0986BD29}"/>
              </a:ext>
            </a:extLst>
          </p:cNvPr>
          <p:cNvSpPr>
            <a:spLocks xmlns:a="http://schemas.openxmlformats.org/drawingml/2006/main" noGrp="1"/>
          </p:cNvSpPr>
          <p:nvPr/>
        </p:nvSpPr>
        <p:spPr>
          <a:xfrm xmlns:a="http://schemas.openxmlformats.org/drawingml/2006/main">
            <a:off x="533400" y="4924425"/>
            <a:ext cx="111252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7" name="b4_text_207">
            <a:extLst xmlns:a="http://schemas.openxmlformats.org/drawingml/2006/main">
              <a:ext uri="{FF2B5EF4-FFF2-40B4-BE49-F238E27FC236}">
                <a16:creationId xmlns:a16="http://schemas.microsoft.com/office/drawing/2014/main" id="{D6D79B26-BEC7-4928-BD56-3EBAB5368D3D}"/>
              </a:ext>
            </a:extLst>
          </p:cNvPr>
          <p:cNvSpPr>
            <a:spLocks xmlns:a="http://schemas.openxmlformats.org/drawingml/2006/main" noGrp="1"/>
          </p:cNvSpPr>
          <p:nvPr/>
        </p:nvSpPr>
        <p:spPr>
          <a:xfrm xmlns:a="http://schemas.openxmlformats.org/drawingml/2006/main">
            <a:off x="533400" y="51625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BASELINE</a:t>
            </a:r>
          </a:p>
        </p:txBody>
      </p:sp>
      <p:sp>
        <p:nvSpPr>
          <p:cNvPr id="18" name="b4_text_208">
            <a:extLst xmlns:a="http://schemas.openxmlformats.org/drawingml/2006/main">
              <a:ext uri="{FF2B5EF4-FFF2-40B4-BE49-F238E27FC236}">
                <a16:creationId xmlns:a16="http://schemas.microsoft.com/office/drawing/2014/main" id="{6DCD4EFE-A146-4FF7-A292-6E8B584BD456}"/>
              </a:ext>
            </a:extLst>
          </p:cNvPr>
          <p:cNvSpPr>
            <a:spLocks xmlns:a="http://schemas.openxmlformats.org/drawingml/2006/main" noGrp="1"/>
          </p:cNvSpPr>
          <p:nvPr/>
        </p:nvSpPr>
        <p:spPr>
          <a:xfrm xmlns:a="http://schemas.openxmlformats.org/drawingml/2006/main">
            <a:off x="4343400" y="51625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PILOT</a:t>
            </a:r>
          </a:p>
        </p:txBody>
      </p:sp>
      <p:sp>
        <p:nvSpPr>
          <p:cNvPr id="19" name="b4_text_209">
            <a:extLst xmlns:a="http://schemas.openxmlformats.org/drawingml/2006/main">
              <a:ext uri="{FF2B5EF4-FFF2-40B4-BE49-F238E27FC236}">
                <a16:creationId xmlns:a16="http://schemas.microsoft.com/office/drawing/2014/main" id="{47CA6F52-79B1-4641-B0C0-8F7EA5CB0311}"/>
              </a:ext>
            </a:extLst>
          </p:cNvPr>
          <p:cNvSpPr>
            <a:spLocks xmlns:a="http://schemas.openxmlformats.org/drawingml/2006/main" noGrp="1"/>
          </p:cNvSpPr>
          <p:nvPr/>
        </p:nvSpPr>
        <p:spPr>
          <a:xfrm xmlns:a="http://schemas.openxmlformats.org/drawingml/2006/main">
            <a:off x="8134350" y="51625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TARGET</a:t>
            </a:r>
          </a:p>
        </p:txBody>
      </p:sp>
      <p:sp>
        <p:nvSpPr>
          <p:cNvPr id="20" name="b4_text_210">
            <a:extLst xmlns:a="http://schemas.openxmlformats.org/drawingml/2006/main">
              <a:ext uri="{FF2B5EF4-FFF2-40B4-BE49-F238E27FC236}">
                <a16:creationId xmlns:a16="http://schemas.microsoft.com/office/drawing/2014/main" id="{D71FD71C-357C-4AF5-8EE2-3A0AF25BF053}"/>
              </a:ext>
            </a:extLst>
          </p:cNvPr>
          <p:cNvSpPr>
            <a:spLocks xmlns:a="http://schemas.openxmlformats.org/drawingml/2006/main" noGrp="1"/>
          </p:cNvSpPr>
          <p:nvPr/>
        </p:nvSpPr>
        <p:spPr>
          <a:xfrm xmlns:a="http://schemas.openxmlformats.org/drawingml/2006/main">
            <a:off x="53340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Measure the current workflow</a:t>
            </a:r>
          </a:p>
        </p:txBody>
      </p:sp>
      <p:sp>
        <p:nvSpPr>
          <p:cNvPr id="21" name="b4_text_211">
            <a:extLst xmlns:a="http://schemas.openxmlformats.org/drawingml/2006/main">
              <a:ext uri="{FF2B5EF4-FFF2-40B4-BE49-F238E27FC236}">
                <a16:creationId xmlns:a16="http://schemas.microsoft.com/office/drawing/2014/main" id="{8FFAF9DA-BC07-43EE-A577-A512698C2AA2}"/>
              </a:ext>
            </a:extLst>
          </p:cNvPr>
          <p:cNvSpPr>
            <a:spLocks xmlns:a="http://schemas.openxmlformats.org/drawingml/2006/main" noGrp="1"/>
          </p:cNvSpPr>
          <p:nvPr/>
        </p:nvSpPr>
        <p:spPr>
          <a:xfrm xmlns:a="http://schemas.openxmlformats.org/drawingml/2006/main">
            <a:off x="434340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Repeat on comparable changes</a:t>
            </a:r>
          </a:p>
        </p:txBody>
      </p:sp>
      <p:sp>
        <p:nvSpPr>
          <p:cNvPr id="22" name="b4_text_212">
            <a:extLst xmlns:a="http://schemas.openxmlformats.org/drawingml/2006/main">
              <a:ext uri="{FF2B5EF4-FFF2-40B4-BE49-F238E27FC236}">
                <a16:creationId xmlns:a16="http://schemas.microsoft.com/office/drawing/2014/main" id="{F50DF92A-E506-4EE5-995C-C286C52141B9}"/>
              </a:ext>
            </a:extLst>
          </p:cNvPr>
          <p:cNvSpPr>
            <a:spLocks xmlns:a="http://schemas.openxmlformats.org/drawingml/2006/main" noGrp="1"/>
          </p:cNvSpPr>
          <p:nvPr/>
        </p:nvSpPr>
        <p:spPr>
          <a:xfrm xmlns:a="http://schemas.openxmlformats.org/drawingml/2006/main">
            <a:off x="813435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Set after baseline collection</a:t>
            </a:r>
          </a:p>
        </p:txBody>
      </p:sp>
      <p:sp>
        <p:nvSpPr>
          <p:cNvPr id="23" name="b4_text_213">
            <a:extLst xmlns:a="http://schemas.openxmlformats.org/drawingml/2006/main">
              <a:ext uri="{FF2B5EF4-FFF2-40B4-BE49-F238E27FC236}">
                <a16:creationId xmlns:a16="http://schemas.microsoft.com/office/drawing/2014/main" id="{394A404C-8145-406E-9C34-1ED5B84AD93A}"/>
              </a:ext>
            </a:extLst>
          </p:cNvPr>
          <p:cNvSpPr>
            <a:spLocks xmlns:a="http://schemas.openxmlformats.org/drawingml/2006/main" noGrp="1"/>
          </p:cNvSpPr>
          <p:nvPr/>
        </p:nvSpPr>
        <p:spPr>
          <a:xfrm xmlns:a="http://schemas.openxmlformats.org/drawingml/2006/main">
            <a:off x="533400" y="59436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Desired outcome: faster decisions with stronger evidence</a:t>
            </a:r>
          </a:p>
        </p:txBody>
      </p:sp>
    </p:spTree>
    <p:extLst>
      <p:ext uri="{BB962C8B-B14F-4D97-AF65-F5344CB8AC3E}">
        <p14:creationId xmlns:p14="http://schemas.microsoft.com/office/powerpoint/2010/main" val="2136375393"/>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right)">
                                      <p:cBhvr>
                                        <p:cTn id="40" dur="3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3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4" name="b0_text_214">
            <a:extLst xmlns:a="http://schemas.openxmlformats.org/drawingml/2006/main">
              <a:ext uri="{FF2B5EF4-FFF2-40B4-BE49-F238E27FC236}">
                <a16:creationId xmlns:a16="http://schemas.microsoft.com/office/drawing/2014/main" id="{1D10AC5B-E854-4050-8D3C-5D2441E6419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09  /  BUSINESS MODEL &amp; IMPLEMENTATION</a:t>
            </a:r>
          </a:p>
        </p:txBody>
      </p:sp>
      <p:sp>
        <p:nvSpPr>
          <p:cNvPr id="2" name="b0_headline_215">
            <a:extLst xmlns:a="http://schemas.openxmlformats.org/drawingml/2006/main">
              <a:ext uri="{FF2B5EF4-FFF2-40B4-BE49-F238E27FC236}">
                <a16:creationId xmlns:a16="http://schemas.microsoft.com/office/drawing/2014/main" id="{6683226A-0EB6-4D54-A8B0-E570C47C05F0}"/>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 narrow workflow must earn its expansion</a:t>
            </a:r>
          </a:p>
        </p:txBody>
      </p:sp>
      <p:sp>
        <p:nvSpPr>
          <p:cNvPr id="3" name="b0_flow_216">
            <a:extLst xmlns:a="http://schemas.openxmlformats.org/drawingml/2006/main">
              <a:ext uri="{FF2B5EF4-FFF2-40B4-BE49-F238E27FC236}">
                <a16:creationId xmlns:a16="http://schemas.microsoft.com/office/drawing/2014/main" id="{3F878126-EC75-439A-A003-7E4896234083}"/>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17">
            <a:extLst xmlns:a="http://schemas.openxmlformats.org/drawingml/2006/main">
              <a:ext uri="{FF2B5EF4-FFF2-40B4-BE49-F238E27FC236}">
                <a16:creationId xmlns:a16="http://schemas.microsoft.com/office/drawing/2014/main" id="{321C5AB4-5757-4E25-ABE3-7C3788A9B384}"/>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18">
            <a:extLst xmlns:a="http://schemas.openxmlformats.org/drawingml/2006/main">
              <a:ext uri="{FF2B5EF4-FFF2-40B4-BE49-F238E27FC236}">
                <a16:creationId xmlns:a16="http://schemas.microsoft.com/office/drawing/2014/main" id="{EC6C29A4-558A-4AB6-9949-9FC5FE1FA065}"/>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09</a:t>
            </a:r>
          </a:p>
        </p:txBody>
      </p:sp>
      <p:sp>
        <p:nvSpPr>
          <p:cNvPr id="6" name="b1_text_219">
            <a:extLst xmlns:a="http://schemas.openxmlformats.org/drawingml/2006/main">
              <a:ext uri="{FF2B5EF4-FFF2-40B4-BE49-F238E27FC236}">
                <a16:creationId xmlns:a16="http://schemas.microsoft.com/office/drawing/2014/main" id="{4AC5AB93-C5F9-41D2-A930-6D2B8744DF9A}"/>
              </a:ext>
            </a:extLst>
          </p:cNvPr>
          <p:cNvSpPr>
            <a:spLocks xmlns:a="http://schemas.openxmlformats.org/drawingml/2006/main" noGrp="1"/>
          </p:cNvSpPr>
          <p:nvPr/>
        </p:nvSpPr>
        <p:spPr>
          <a:xfrm xmlns:a="http://schemas.openxmlformats.org/drawingml/2006/main">
            <a:off x="533400" y="17526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COMMERCIAL MODEL / REQUIRES CUSTOMER VALIDATION</a:t>
            </a:r>
          </a:p>
        </p:txBody>
      </p:sp>
      <p:sp>
        <p:nvSpPr>
          <p:cNvPr id="7" name="b1_text_220">
            <a:extLst xmlns:a="http://schemas.openxmlformats.org/drawingml/2006/main">
              <a:ext uri="{FF2B5EF4-FFF2-40B4-BE49-F238E27FC236}">
                <a16:creationId xmlns:a16="http://schemas.microsoft.com/office/drawing/2014/main" id="{EF55CCBF-323A-4DCA-ABB9-E1AA9C60FB0E}"/>
              </a:ext>
            </a:extLst>
          </p:cNvPr>
          <p:cNvSpPr>
            <a:spLocks xmlns:a="http://schemas.openxmlformats.org/drawingml/2006/main" noGrp="1"/>
          </p:cNvSpPr>
          <p:nvPr/>
        </p:nvSpPr>
        <p:spPr>
          <a:xfrm xmlns:a="http://schemas.openxmlformats.org/drawingml/2006/main">
            <a:off x="533400"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STARTUP / PILOT</a:t>
            </a:r>
          </a:p>
        </p:txBody>
      </p:sp>
      <p:sp>
        <p:nvSpPr>
          <p:cNvPr id="8" name="b1_text_221">
            <a:extLst xmlns:a="http://schemas.openxmlformats.org/drawingml/2006/main">
              <a:ext uri="{FF2B5EF4-FFF2-40B4-BE49-F238E27FC236}">
                <a16:creationId xmlns:a16="http://schemas.microsoft.com/office/drawing/2014/main" id="{78CA42EB-0278-4634-A41E-D9560EEEBA9A}"/>
              </a:ext>
            </a:extLst>
          </p:cNvPr>
          <p:cNvSpPr>
            <a:spLocks xmlns:a="http://schemas.openxmlformats.org/drawingml/2006/main" noGrp="1"/>
          </p:cNvSpPr>
          <p:nvPr/>
        </p:nvSpPr>
        <p:spPr>
          <a:xfrm xmlns:a="http://schemas.openxmlformats.org/drawingml/2006/main">
            <a:off x="533400"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Per repository or app</a:t>
            </a:r>
          </a:p>
        </p:txBody>
      </p:sp>
      <p:sp>
        <p:nvSpPr>
          <p:cNvPr id="9" name="b1_text_222">
            <a:extLst xmlns:a="http://schemas.openxmlformats.org/drawingml/2006/main">
              <a:ext uri="{FF2B5EF4-FFF2-40B4-BE49-F238E27FC236}">
                <a16:creationId xmlns:a16="http://schemas.microsoft.com/office/drawing/2014/main" id="{776C9FFE-7779-4432-96AC-75B068F1BD72}"/>
              </a:ext>
            </a:extLst>
          </p:cNvPr>
          <p:cNvSpPr>
            <a:spLocks xmlns:a="http://schemas.openxmlformats.org/drawingml/2006/main" noGrp="1"/>
          </p:cNvSpPr>
          <p:nvPr/>
        </p:nvSpPr>
        <p:spPr>
          <a:xfrm xmlns:a="http://schemas.openxmlformats.org/drawingml/2006/main">
            <a:off x="533400"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Scanners + evidence + approval</a:t>
            </a:r>
          </a:p>
        </p:txBody>
      </p:sp>
      <p:sp>
        <p:nvSpPr>
          <p:cNvPr id="10" name="b1_text_223">
            <a:extLst xmlns:a="http://schemas.openxmlformats.org/drawingml/2006/main">
              <a:ext uri="{FF2B5EF4-FFF2-40B4-BE49-F238E27FC236}">
                <a16:creationId xmlns:a16="http://schemas.microsoft.com/office/drawing/2014/main" id="{613C3E4F-8DD4-48B4-9A10-5E296F3C195E}"/>
              </a:ext>
            </a:extLst>
          </p:cNvPr>
          <p:cNvSpPr>
            <a:spLocks xmlns:a="http://schemas.openxmlformats.org/drawingml/2006/main" noGrp="1"/>
          </p:cNvSpPr>
          <p:nvPr/>
        </p:nvSpPr>
        <p:spPr>
          <a:xfrm xmlns:a="http://schemas.openxmlformats.org/drawingml/2006/main">
            <a:off x="4314825"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TEAM</a:t>
            </a:r>
          </a:p>
        </p:txBody>
      </p:sp>
      <p:sp>
        <p:nvSpPr>
          <p:cNvPr id="11" name="b1_text_224">
            <a:extLst xmlns:a="http://schemas.openxmlformats.org/drawingml/2006/main">
              <a:ext uri="{FF2B5EF4-FFF2-40B4-BE49-F238E27FC236}">
                <a16:creationId xmlns:a16="http://schemas.microsoft.com/office/drawing/2014/main" id="{F6812786-2FF1-4974-BB7E-B52389F29EEE}"/>
              </a:ext>
            </a:extLst>
          </p:cNvPr>
          <p:cNvSpPr>
            <a:spLocks xmlns:a="http://schemas.openxmlformats.org/drawingml/2006/main" noGrp="1"/>
          </p:cNvSpPr>
          <p:nvPr/>
        </p:nvSpPr>
        <p:spPr>
          <a:xfrm xmlns:a="http://schemas.openxmlformats.org/drawingml/2006/main">
            <a:off x="4314825"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Per repo / workload / developer</a:t>
            </a:r>
          </a:p>
        </p:txBody>
      </p:sp>
      <p:sp>
        <p:nvSpPr>
          <p:cNvPr id="12" name="b1_text_225">
            <a:extLst xmlns:a="http://schemas.openxmlformats.org/drawingml/2006/main">
              <a:ext uri="{FF2B5EF4-FFF2-40B4-BE49-F238E27FC236}">
                <a16:creationId xmlns:a16="http://schemas.microsoft.com/office/drawing/2014/main" id="{BEF63DF3-11CB-4DFF-9EC1-FB45DA2BAD2B}"/>
              </a:ext>
            </a:extLst>
          </p:cNvPr>
          <p:cNvSpPr>
            <a:spLocks xmlns:a="http://schemas.openxmlformats.org/drawingml/2006/main" noGrp="1"/>
          </p:cNvSpPr>
          <p:nvPr/>
        </p:nvSpPr>
        <p:spPr>
          <a:xfrm xmlns:a="http://schemas.openxmlformats.org/drawingml/2006/main">
            <a:off x="4314825"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CI + private memory + policy</a:t>
            </a:r>
          </a:p>
        </p:txBody>
      </p:sp>
      <p:sp>
        <p:nvSpPr>
          <p:cNvPr id="13" name="b1_text_226">
            <a:extLst xmlns:a="http://schemas.openxmlformats.org/drawingml/2006/main">
              <a:ext uri="{FF2B5EF4-FFF2-40B4-BE49-F238E27FC236}">
                <a16:creationId xmlns:a16="http://schemas.microsoft.com/office/drawing/2014/main" id="{72E4B24B-9462-44F4-86E8-701E37BF55BB}"/>
              </a:ext>
            </a:extLst>
          </p:cNvPr>
          <p:cNvSpPr>
            <a:spLocks xmlns:a="http://schemas.openxmlformats.org/drawingml/2006/main" noGrp="1"/>
          </p:cNvSpPr>
          <p:nvPr/>
        </p:nvSpPr>
        <p:spPr>
          <a:xfrm xmlns:a="http://schemas.openxmlformats.org/drawingml/2006/main">
            <a:off x="8096250"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ENTERPRISE / FUTURE</a:t>
            </a:r>
          </a:p>
        </p:txBody>
      </p:sp>
      <p:sp>
        <p:nvSpPr>
          <p:cNvPr id="14" name="b1_text_227">
            <a:extLst xmlns:a="http://schemas.openxmlformats.org/drawingml/2006/main">
              <a:ext uri="{FF2B5EF4-FFF2-40B4-BE49-F238E27FC236}">
                <a16:creationId xmlns:a16="http://schemas.microsoft.com/office/drawing/2014/main" id="{DEBF6A3A-57D3-4D61-BB16-BD11B60B7F82}"/>
              </a:ext>
            </a:extLst>
          </p:cNvPr>
          <p:cNvSpPr>
            <a:spLocks xmlns:a="http://schemas.openxmlformats.org/drawingml/2006/main" noGrp="1"/>
          </p:cNvSpPr>
          <p:nvPr/>
        </p:nvSpPr>
        <p:spPr>
          <a:xfrm xmlns:a="http://schemas.openxmlformats.org/drawingml/2006/main">
            <a:off x="8096250"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Private deployment + support</a:t>
            </a:r>
          </a:p>
        </p:txBody>
      </p:sp>
      <p:sp>
        <p:nvSpPr>
          <p:cNvPr id="15" name="b1_text_228">
            <a:extLst xmlns:a="http://schemas.openxmlformats.org/drawingml/2006/main">
              <a:ext uri="{FF2B5EF4-FFF2-40B4-BE49-F238E27FC236}">
                <a16:creationId xmlns:a16="http://schemas.microsoft.com/office/drawing/2014/main" id="{8AA02C8B-FF98-4E56-BF36-1BBF02DE3588}"/>
              </a:ext>
            </a:extLst>
          </p:cNvPr>
          <p:cNvSpPr>
            <a:spLocks xmlns:a="http://schemas.openxmlformats.org/drawingml/2006/main" noGrp="1"/>
          </p:cNvSpPr>
          <p:nvPr/>
        </p:nvSpPr>
        <p:spPr>
          <a:xfrm xmlns:a="http://schemas.openxmlformats.org/drawingml/2006/main">
            <a:off x="8096250"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VPC / on-prem + audit controls</a:t>
            </a:r>
          </a:p>
        </p:txBody>
      </p:sp>
      <p:sp>
        <p:nvSpPr>
          <p:cNvPr id="16" name="b2_flow_229">
            <a:extLst xmlns:a="http://schemas.openxmlformats.org/drawingml/2006/main">
              <a:ext uri="{FF2B5EF4-FFF2-40B4-BE49-F238E27FC236}">
                <a16:creationId xmlns:a16="http://schemas.microsoft.com/office/drawing/2014/main" id="{8A7EC140-014E-4D6E-AA4F-7E75522B539F}"/>
              </a:ext>
            </a:extLst>
          </p:cNvPr>
          <p:cNvSpPr>
            <a:spLocks xmlns:a="http://schemas.openxmlformats.org/drawingml/2006/main" noGrp="1"/>
          </p:cNvSpPr>
          <p:nvPr/>
        </p:nvSpPr>
        <p:spPr>
          <a:xfrm xmlns:a="http://schemas.openxmlformats.org/drawingml/2006/main">
            <a:off x="533400" y="3343275"/>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7" name="b2_text_230">
            <a:extLst xmlns:a="http://schemas.openxmlformats.org/drawingml/2006/main">
              <a:ext uri="{FF2B5EF4-FFF2-40B4-BE49-F238E27FC236}">
                <a16:creationId xmlns:a16="http://schemas.microsoft.com/office/drawing/2014/main" id="{60E973C3-6AD5-483A-84E2-871AA0A96035}"/>
              </a:ext>
            </a:extLst>
          </p:cNvPr>
          <p:cNvSpPr>
            <a:spLocks xmlns:a="http://schemas.openxmlformats.org/drawingml/2006/main" noGrp="1"/>
          </p:cNvSpPr>
          <p:nvPr/>
        </p:nvSpPr>
        <p:spPr>
          <a:xfrm xmlns:a="http://schemas.openxmlformats.org/drawingml/2006/main">
            <a:off x="533400" y="3524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PILOT VALUE FRAMEWORK</a:t>
            </a:r>
          </a:p>
        </p:txBody>
      </p:sp>
      <p:sp>
        <p:nvSpPr>
          <p:cNvPr id="18" name="b2_text_231">
            <a:extLst xmlns:a="http://schemas.openxmlformats.org/drawingml/2006/main">
              <a:ext uri="{FF2B5EF4-FFF2-40B4-BE49-F238E27FC236}">
                <a16:creationId xmlns:a16="http://schemas.microsoft.com/office/drawing/2014/main" id="{F94D62E7-4F48-488E-8833-8482795FA266}"/>
              </a:ext>
            </a:extLst>
          </p:cNvPr>
          <p:cNvSpPr>
            <a:spLocks xmlns:a="http://schemas.openxmlformats.org/drawingml/2006/main" noGrp="1"/>
          </p:cNvSpPr>
          <p:nvPr/>
        </p:nvSpPr>
        <p:spPr>
          <a:xfrm xmlns:a="http://schemas.openxmlformats.org/drawingml/2006/main">
            <a:off x="533400" y="3905250"/>
            <a:ext cx="5248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Review hours saved × cost per hour</a:t>
            </a:r>
          </a:p>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 avoided remediation / delay cost</a:t>
            </a:r>
          </a:p>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 estimated customer value</a:t>
            </a:r>
          </a:p>
        </p:txBody>
      </p:sp>
      <p:sp>
        <p:nvSpPr>
          <p:cNvPr id="19" name="b2_text_232">
            <a:extLst xmlns:a="http://schemas.openxmlformats.org/drawingml/2006/main">
              <a:ext uri="{FF2B5EF4-FFF2-40B4-BE49-F238E27FC236}">
                <a16:creationId xmlns:a16="http://schemas.microsoft.com/office/drawing/2014/main" id="{B7C31617-DAF5-4DA2-9B4C-2F1B9585D1C0}"/>
              </a:ext>
            </a:extLst>
          </p:cNvPr>
          <p:cNvSpPr>
            <a:spLocks xmlns:a="http://schemas.openxmlformats.org/drawingml/2006/main" noGrp="1"/>
          </p:cNvSpPr>
          <p:nvPr/>
        </p:nvSpPr>
        <p:spPr>
          <a:xfrm xmlns:a="http://schemas.openxmlformats.org/drawingml/2006/main">
            <a:off x="533400" y="5133975"/>
            <a:ext cx="52292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Measure compute cost per analysis, cost per verified change, retries and infrastructure cost.</a:t>
            </a:r>
          </a:p>
        </p:txBody>
      </p:sp>
      <p:sp>
        <p:nvSpPr>
          <p:cNvPr id="20" name="b3_text_233">
            <a:extLst xmlns:a="http://schemas.openxmlformats.org/drawingml/2006/main">
              <a:ext uri="{FF2B5EF4-FFF2-40B4-BE49-F238E27FC236}">
                <a16:creationId xmlns:a16="http://schemas.microsoft.com/office/drawing/2014/main" id="{8C37AA4F-8395-4149-B8F0-92DD2EFBE4D7}"/>
              </a:ext>
            </a:extLst>
          </p:cNvPr>
          <p:cNvSpPr>
            <a:spLocks xmlns:a="http://schemas.openxmlformats.org/drawingml/2006/main" noGrp="1"/>
          </p:cNvSpPr>
          <p:nvPr/>
        </p:nvSpPr>
        <p:spPr>
          <a:xfrm xmlns:a="http://schemas.openxmlformats.org/drawingml/2006/main">
            <a:off x="6448425" y="3505200"/>
            <a:ext cx="5210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STRATEGIC PRIORITY MATRIX</a:t>
            </a:r>
          </a:p>
        </p:txBody>
      </p:sp>
      <p:sp>
        <p:nvSpPr>
          <p:cNvPr id="21" name="b3_box_234">
            <a:extLst xmlns:a="http://schemas.openxmlformats.org/drawingml/2006/main">
              <a:ext uri="{FF2B5EF4-FFF2-40B4-BE49-F238E27FC236}">
                <a16:creationId xmlns:a16="http://schemas.microsoft.com/office/drawing/2014/main" id="{4769FA29-003B-44E4-8825-17D719924A1D}"/>
              </a:ext>
            </a:extLst>
          </p:cNvPr>
          <p:cNvSpPr>
            <a:spLocks xmlns:a="http://schemas.openxmlformats.org/drawingml/2006/main" noGrp="1"/>
          </p:cNvSpPr>
          <p:nvPr/>
        </p:nvSpPr>
        <p:spPr>
          <a:xfrm xmlns:a="http://schemas.openxmlformats.org/drawingml/2006/main">
            <a:off x="6753225" y="3962400"/>
            <a:ext cx="4905375" cy="1685925"/>
          </a:xfrm>
          <a:prstGeom xmlns:a="http://schemas.openxmlformats.org/drawingml/2006/main" prst="rect">
            <a:avLst/>
          </a:prstGeom>
          <a:solidFill xmlns:a="http://schemas.openxmlformats.org/drawingml/2006/main">
            <a:srgbClr val="111E2C"/>
          </a:solidFill>
          <a:ln xmlns:a="http://schemas.openxmlformats.org/drawingml/2006/main" w="0">
            <a:noFill/>
          </a:ln>
        </p:spPr>
      </p:sp>
      <p:sp>
        <p:nvSpPr>
          <p:cNvPr id="22" name="b3_flow_235">
            <a:extLst xmlns:a="http://schemas.openxmlformats.org/drawingml/2006/main">
              <a:ext uri="{FF2B5EF4-FFF2-40B4-BE49-F238E27FC236}">
                <a16:creationId xmlns:a16="http://schemas.microsoft.com/office/drawing/2014/main" id="{E88944EC-6495-45CA-803F-6CD0E4175F0B}"/>
              </a:ext>
            </a:extLst>
          </p:cNvPr>
          <p:cNvSpPr>
            <a:spLocks xmlns:a="http://schemas.openxmlformats.org/drawingml/2006/main" noGrp="1"/>
          </p:cNvSpPr>
          <p:nvPr/>
        </p:nvSpPr>
        <p:spPr>
          <a:xfrm xmlns:a="http://schemas.openxmlformats.org/drawingml/2006/main">
            <a:off x="9086850" y="3962400"/>
            <a:ext cx="19050" cy="942975"/>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3" name="b3_flow_236">
            <a:extLst xmlns:a="http://schemas.openxmlformats.org/drawingml/2006/main">
              <a:ext uri="{FF2B5EF4-FFF2-40B4-BE49-F238E27FC236}">
                <a16:creationId xmlns:a16="http://schemas.microsoft.com/office/drawing/2014/main" id="{4E4A3571-F285-493D-B003-A21892035D57}"/>
              </a:ext>
            </a:extLst>
          </p:cNvPr>
          <p:cNvSpPr>
            <a:spLocks xmlns:a="http://schemas.openxmlformats.org/drawingml/2006/main" noGrp="1"/>
          </p:cNvSpPr>
          <p:nvPr/>
        </p:nvSpPr>
        <p:spPr>
          <a:xfrm xmlns:a="http://schemas.openxmlformats.org/drawingml/2006/main">
            <a:off x="6753225" y="4905375"/>
            <a:ext cx="4905375"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4" name="b3_text_237">
            <a:extLst xmlns:a="http://schemas.openxmlformats.org/drawingml/2006/main">
              <a:ext uri="{FF2B5EF4-FFF2-40B4-BE49-F238E27FC236}">
                <a16:creationId xmlns:a16="http://schemas.microsoft.com/office/drawing/2014/main" id="{2BEFA8D5-54F8-4E84-B904-C4EB64A628E2}"/>
              </a:ext>
            </a:extLst>
          </p:cNvPr>
          <p:cNvSpPr>
            <a:spLocks xmlns:a="http://schemas.openxmlformats.org/drawingml/2006/main" noGrp="1"/>
          </p:cNvSpPr>
          <p:nvPr/>
        </p:nvSpPr>
        <p:spPr>
          <a:xfrm xmlns:a="http://schemas.openxmlformats.org/drawingml/2006/main">
            <a:off x="6877050" y="4029075"/>
            <a:ext cx="2085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DCADA"/>
                </a:solidFill>
                <a:latin typeface="Arial"/>
                <a:ea typeface="Arial"/>
                <a:cs typeface="Arial"/>
              </a:defRPr>
            </a:pPr>
            <a:r>
              <a:rPr sz="1125" b="1">
                <a:solidFill>
                  <a:srgbClr val="BDCADA"/>
                </a:solidFill>
                <a:latin typeface="Arial"/>
                <a:ea typeface="Arial"/>
                <a:cs typeface="Arial"/>
              </a:rPr>
              <a:t>HIGH VALUE</a:t>
            </a:r>
          </a:p>
          <a:p xmlns:a="http://schemas.openxmlformats.org/drawingml/2006/main">
            <a:pPr algn="l">
              <a:defRPr sz="1125" b="1">
                <a:solidFill>
                  <a:srgbClr val="BDCADA"/>
                </a:solidFill>
                <a:latin typeface="Arial"/>
                <a:ea typeface="Arial"/>
                <a:cs typeface="Arial"/>
              </a:defRPr>
            </a:pPr>
            <a:r>
              <a:rPr sz="1125" b="1">
                <a:solidFill>
                  <a:srgbClr val="BDCADA"/>
                </a:solidFill>
                <a:latin typeface="Arial"/>
                <a:ea typeface="Arial"/>
                <a:cs typeface="Arial"/>
              </a:rPr>
              <a:t>LOWER READINESS</a:t>
            </a:r>
          </a:p>
        </p:txBody>
      </p:sp>
      <p:sp>
        <p:nvSpPr>
          <p:cNvPr id="25" name="b3_text_238">
            <a:extLst xmlns:a="http://schemas.openxmlformats.org/drawingml/2006/main">
              <a:ext uri="{FF2B5EF4-FFF2-40B4-BE49-F238E27FC236}">
                <a16:creationId xmlns:a16="http://schemas.microsoft.com/office/drawing/2014/main" id="{ED5FE53B-EB0C-442F-B222-F7E9EE39ECD8}"/>
              </a:ext>
            </a:extLst>
          </p:cNvPr>
          <p:cNvSpPr>
            <a:spLocks xmlns:a="http://schemas.openxmlformats.org/drawingml/2006/main" noGrp="1"/>
          </p:cNvSpPr>
          <p:nvPr/>
        </p:nvSpPr>
        <p:spPr>
          <a:xfrm xmlns:a="http://schemas.openxmlformats.org/drawingml/2006/main">
            <a:off x="9220200" y="4048125"/>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INITIAL PRIORITY</a:t>
            </a:r>
          </a:p>
        </p:txBody>
      </p:sp>
      <p:sp>
        <p:nvSpPr>
          <p:cNvPr id="26" name="b3_text_239">
            <a:extLst xmlns:a="http://schemas.openxmlformats.org/drawingml/2006/main">
              <a:ext uri="{FF2B5EF4-FFF2-40B4-BE49-F238E27FC236}">
                <a16:creationId xmlns:a16="http://schemas.microsoft.com/office/drawing/2014/main" id="{73313AA3-9369-4C11-88CE-39E9233279B8}"/>
              </a:ext>
            </a:extLst>
          </p:cNvPr>
          <p:cNvSpPr>
            <a:spLocks xmlns:a="http://schemas.openxmlformats.org/drawingml/2006/main" noGrp="1"/>
          </p:cNvSpPr>
          <p:nvPr/>
        </p:nvSpPr>
        <p:spPr>
          <a:xfrm xmlns:a="http://schemas.openxmlformats.org/drawingml/2006/main">
            <a:off x="6877050" y="4391025"/>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Autonomous verified repair</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Multi-repo memory</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Advanced policy intelligence</a:t>
            </a:r>
          </a:p>
        </p:txBody>
      </p:sp>
      <p:sp>
        <p:nvSpPr>
          <p:cNvPr id="27" name="b3_text_240">
            <a:extLst xmlns:a="http://schemas.openxmlformats.org/drawingml/2006/main">
              <a:ext uri="{FF2B5EF4-FFF2-40B4-BE49-F238E27FC236}">
                <a16:creationId xmlns:a16="http://schemas.microsoft.com/office/drawing/2014/main" id="{EAB6BF42-7997-4432-8D35-1686E71BDC6D}"/>
              </a:ext>
            </a:extLst>
          </p:cNvPr>
          <p:cNvSpPr>
            <a:spLocks xmlns:a="http://schemas.openxmlformats.org/drawingml/2006/main" noGrp="1"/>
          </p:cNvSpPr>
          <p:nvPr/>
        </p:nvSpPr>
        <p:spPr>
          <a:xfrm xmlns:a="http://schemas.openxmlformats.org/drawingml/2006/main">
            <a:off x="9220200" y="4391025"/>
            <a:ext cx="2333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AI PR assurance</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Security evidence aggregation</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CI / release verification</a:t>
            </a:r>
          </a:p>
        </p:txBody>
      </p:sp>
      <p:sp>
        <p:nvSpPr>
          <p:cNvPr id="28" name="b3_text_241">
            <a:extLst xmlns:a="http://schemas.openxmlformats.org/drawingml/2006/main">
              <a:ext uri="{FF2B5EF4-FFF2-40B4-BE49-F238E27FC236}">
                <a16:creationId xmlns:a16="http://schemas.microsoft.com/office/drawing/2014/main" id="{86979610-C2E6-4590-8854-23175A33B82C}"/>
              </a:ext>
            </a:extLst>
          </p:cNvPr>
          <p:cNvSpPr>
            <a:spLocks xmlns:a="http://schemas.openxmlformats.org/drawingml/2006/main" noGrp="1"/>
          </p:cNvSpPr>
          <p:nvPr/>
        </p:nvSpPr>
        <p:spPr>
          <a:xfrm xmlns:a="http://schemas.openxmlformats.org/drawingml/2006/main">
            <a:off x="6877050" y="513397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BDCADA"/>
                </a:solidFill>
                <a:latin typeface="Arial"/>
                <a:ea typeface="Arial"/>
                <a:cs typeface="Arial"/>
              </a:defRPr>
            </a:pPr>
            <a:r>
              <a:rPr sz="1200" b="0">
                <a:solidFill>
                  <a:srgbClr val="BDCADA"/>
                </a:solidFill>
                <a:latin typeface="Arial"/>
                <a:ea typeface="Arial"/>
                <a:cs typeface="Arial"/>
              </a:rPr>
              <a:t>Lower priority: general coding assistant,</a:t>
            </a:r>
          </a:p>
          <a:p xmlns:a="http://schemas.openxmlformats.org/drawingml/2006/main">
            <a:pPr algn="l">
              <a:defRPr sz="1200" b="0">
                <a:solidFill>
                  <a:srgbClr val="BDCADA"/>
                </a:solidFill>
                <a:latin typeface="Arial"/>
                <a:ea typeface="Arial"/>
                <a:cs typeface="Arial"/>
              </a:defRPr>
            </a:pPr>
            <a:r>
              <a:rPr sz="1200" b="0">
                <a:solidFill>
                  <a:srgbClr val="BDCADA"/>
                </a:solidFill>
                <a:latin typeface="Arial"/>
                <a:ea typeface="Arial"/>
                <a:cs typeface="Arial"/>
              </a:rPr>
              <a:t>observability replacement, project management</a:t>
            </a:r>
          </a:p>
        </p:txBody>
      </p:sp>
      <p:sp>
        <p:nvSpPr>
          <p:cNvPr id="29" name="b3_text_242">
            <a:extLst xmlns:a="http://schemas.openxmlformats.org/drawingml/2006/main">
              <a:ext uri="{FF2B5EF4-FFF2-40B4-BE49-F238E27FC236}">
                <a16:creationId xmlns:a16="http://schemas.microsoft.com/office/drawing/2014/main" id="{730D50B3-7495-4043-B8E7-483645CF7AAA}"/>
              </a:ext>
            </a:extLst>
          </p:cNvPr>
          <p:cNvSpPr>
            <a:spLocks xmlns:a="http://schemas.openxmlformats.org/drawingml/2006/main" noGrp="1"/>
          </p:cNvSpPr>
          <p:nvPr/>
        </p:nvSpPr>
        <p:spPr>
          <a:xfrm xmlns:a="http://schemas.openxmlformats.org/drawingml/2006/main">
            <a:off x="6181725" y="5676900"/>
            <a:ext cx="2324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BDCADA"/>
                </a:solidFill>
                <a:latin typeface="Arial"/>
                <a:ea typeface="Arial"/>
                <a:cs typeface="Arial"/>
              </a:defRPr>
            </a:pPr>
            <a:r>
              <a:rPr sz="1125" b="0">
                <a:solidFill>
                  <a:srgbClr val="BDCADA"/>
                </a:solidFill>
                <a:latin typeface="Arial"/>
                <a:ea typeface="Arial"/>
                <a:cs typeface="Arial"/>
              </a:rPr>
              <a:t>Value: low → high ↑</a:t>
            </a:r>
          </a:p>
        </p:txBody>
      </p:sp>
      <p:sp>
        <p:nvSpPr>
          <p:cNvPr id="30" name="b3_text_243">
            <a:extLst xmlns:a="http://schemas.openxmlformats.org/drawingml/2006/main">
              <a:ext uri="{FF2B5EF4-FFF2-40B4-BE49-F238E27FC236}">
                <a16:creationId xmlns:a16="http://schemas.microsoft.com/office/drawing/2014/main" id="{4630C24A-AA69-4B95-B600-8ED8EA5B9AFB}"/>
              </a:ext>
            </a:extLst>
          </p:cNvPr>
          <p:cNvSpPr>
            <a:spLocks xmlns:a="http://schemas.openxmlformats.org/drawingml/2006/main" noGrp="1"/>
          </p:cNvSpPr>
          <p:nvPr/>
        </p:nvSpPr>
        <p:spPr>
          <a:xfrm xmlns:a="http://schemas.openxmlformats.org/drawingml/2006/main">
            <a:off x="8753475" y="5676900"/>
            <a:ext cx="2905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BDCADA"/>
                </a:solidFill>
                <a:latin typeface="Arial"/>
                <a:ea typeface="Arial"/>
                <a:cs typeface="Arial"/>
              </a:defRPr>
            </a:pPr>
            <a:r>
              <a:rPr sz="1125" b="0">
                <a:solidFill>
                  <a:srgbClr val="BDCADA"/>
                </a:solidFill>
                <a:latin typeface="Arial"/>
                <a:ea typeface="Arial"/>
                <a:cs typeface="Arial"/>
              </a:rPr>
              <a:t>Technical readiness: low → high</a:t>
            </a:r>
          </a:p>
        </p:txBody>
      </p:sp>
      <p:sp>
        <p:nvSpPr>
          <p:cNvPr id="31" name="b4_text_244">
            <a:extLst xmlns:a="http://schemas.openxmlformats.org/drawingml/2006/main">
              <a:ext uri="{FF2B5EF4-FFF2-40B4-BE49-F238E27FC236}">
                <a16:creationId xmlns:a16="http://schemas.microsoft.com/office/drawing/2014/main" id="{646F5D31-56D8-4829-94DC-C6B5760D2B8D}"/>
              </a:ext>
            </a:extLst>
          </p:cNvPr>
          <p:cNvSpPr>
            <a:spLocks xmlns:a="http://schemas.openxmlformats.org/drawingml/2006/main" noGrp="1"/>
          </p:cNvSpPr>
          <p:nvPr/>
        </p:nvSpPr>
        <p:spPr>
          <a:xfrm xmlns:a="http://schemas.openxmlformats.org/drawingml/2006/main">
            <a:off x="533400" y="5800725"/>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52D5F2"/>
                </a:solidFill>
                <a:latin typeface="Arial"/>
                <a:ea typeface="Arial"/>
                <a:cs typeface="Arial"/>
              </a:defRPr>
            </a:pPr>
            <a:r>
              <a:rPr sz="1350" b="1">
                <a:solidFill>
                  <a:srgbClr val="52D5F2"/>
                </a:solidFill>
                <a:latin typeface="Arial"/>
                <a:ea typeface="Arial"/>
                <a:cs typeface="Arial"/>
              </a:rPr>
              <a:t>CURRENT  Research + architecture     MVP  Single repo     INTEGRATION  CI + sandbox</a:t>
            </a:r>
          </a:p>
        </p:txBody>
      </p:sp>
      <p:sp>
        <p:nvSpPr>
          <p:cNvPr id="32" name="b4_text_245">
            <a:extLst xmlns:a="http://schemas.openxmlformats.org/drawingml/2006/main">
              <a:ext uri="{FF2B5EF4-FFF2-40B4-BE49-F238E27FC236}">
                <a16:creationId xmlns:a16="http://schemas.microsoft.com/office/drawing/2014/main" id="{7F0C3E54-8435-4138-97A5-D5537813D01A}"/>
              </a:ext>
            </a:extLst>
          </p:cNvPr>
          <p:cNvSpPr>
            <a:spLocks xmlns:a="http://schemas.openxmlformats.org/drawingml/2006/main" noGrp="1"/>
          </p:cNvSpPr>
          <p:nvPr/>
        </p:nvSpPr>
        <p:spPr>
          <a:xfrm xmlns:a="http://schemas.openxmlformats.org/drawingml/2006/main">
            <a:off x="533400" y="6038850"/>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D5F2"/>
                </a:solidFill>
                <a:latin typeface="Arial"/>
                <a:ea typeface="Arial"/>
                <a:cs typeface="Arial"/>
              </a:defRPr>
            </a:pPr>
            <a:r>
              <a:rPr sz="1275" b="1">
                <a:solidFill>
                  <a:srgbClr val="52D5F2"/>
                </a:solidFill>
                <a:latin typeface="Arial"/>
                <a:ea typeface="Arial"/>
                <a:cs typeface="Arial"/>
              </a:rPr>
              <a:t>TEAM RUNTIME  Private memory + policy     ENTERPRISE FUTURE  Deployment + audit governance</a:t>
            </a:r>
          </a:p>
        </p:txBody>
      </p:sp>
      <p:sp>
        <p:nvSpPr>
          <p:cNvPr id="33" name="b0_text_246">
            <a:extLst xmlns:a="http://schemas.openxmlformats.org/drawingml/2006/main">
              <a:ext uri="{FF2B5EF4-FFF2-40B4-BE49-F238E27FC236}">
                <a16:creationId xmlns:a16="http://schemas.microsoft.com/office/drawing/2014/main" id="{7F784B2B-8283-4C6B-970D-7F90AB6FED64}"/>
              </a:ext>
            </a:extLst>
          </p:cNvPr>
          <p:cNvSpPr>
            <a:spLocks xmlns:a="http://schemas.openxmlformats.org/drawingml/2006/main" noGrp="1"/>
          </p:cNvSpPr>
          <p:nvPr/>
        </p:nvSpPr>
        <p:spPr>
          <a:xfrm xmlns:a="http://schemas.openxmlformats.org/drawingml/2006/main">
            <a:off x="533400" y="6210300"/>
            <a:ext cx="11125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BDCADA"/>
                </a:solidFill>
                <a:latin typeface="Arial"/>
                <a:ea typeface="Arial"/>
                <a:cs typeface="Arial"/>
              </a:defRPr>
            </a:pPr>
            <a:r>
              <a:rPr sz="960" b="0">
                <a:solidFill>
                  <a:srgbClr val="BDCADA"/>
                </a:solidFill>
                <a:latin typeface="Arial"/>
                <a:ea typeface="Arial"/>
                <a:cs typeface="Arial"/>
              </a:rPr>
              <a:t>Measurement framework, not financial performance. Proposed sequence then adds team memory and enterprise governance.</a:t>
            </a:r>
          </a:p>
        </p:txBody>
      </p:sp>
    </p:spTree>
    <p:extLst>
      <p:ext uri="{BB962C8B-B14F-4D97-AF65-F5344CB8AC3E}">
        <p14:creationId xmlns:p14="http://schemas.microsoft.com/office/powerpoint/2010/main" val="1773042508"/>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p:tgtEl>
                                          <p:spTgt spid="21"/>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right)">
                                      <p:cBhvr>
                                        <p:cTn id="59" dur="350"/>
                                        <p:tgtEl>
                                          <p:spTgt spid="22"/>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right)">
                                      <p:cBhvr>
                                        <p:cTn id="62" dur="3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3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3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3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3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3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3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5" name="b0_text_247">
            <a:extLst xmlns:a="http://schemas.openxmlformats.org/drawingml/2006/main">
              <a:ext uri="{FF2B5EF4-FFF2-40B4-BE49-F238E27FC236}">
                <a16:creationId xmlns:a16="http://schemas.microsoft.com/office/drawing/2014/main" id="{FCCD704B-3F35-49A1-A08E-4F8BD89965A4}"/>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10  /  FEASIBILITY &amp; SCALABILITY</a:t>
            </a:r>
          </a:p>
        </p:txBody>
      </p:sp>
      <p:sp>
        <p:nvSpPr>
          <p:cNvPr id="2" name="b0_headline_248">
            <a:extLst xmlns:a="http://schemas.openxmlformats.org/drawingml/2006/main">
              <a:ext uri="{FF2B5EF4-FFF2-40B4-BE49-F238E27FC236}">
                <a16:creationId xmlns:a16="http://schemas.microsoft.com/office/drawing/2014/main" id="{5199FAFB-D40D-45CC-9392-38DA101D820F}"/>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The assurance loop comes before the platform</a:t>
            </a:r>
          </a:p>
        </p:txBody>
      </p:sp>
      <p:sp>
        <p:nvSpPr>
          <p:cNvPr id="3" name="b0_flow_249">
            <a:extLst xmlns:a="http://schemas.openxmlformats.org/drawingml/2006/main">
              <a:ext uri="{FF2B5EF4-FFF2-40B4-BE49-F238E27FC236}">
                <a16:creationId xmlns:a16="http://schemas.microsoft.com/office/drawing/2014/main" id="{C7BB9FA7-C554-4311-9168-9B4282227AEE}"/>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50">
            <a:extLst xmlns:a="http://schemas.openxmlformats.org/drawingml/2006/main">
              <a:ext uri="{FF2B5EF4-FFF2-40B4-BE49-F238E27FC236}">
                <a16:creationId xmlns:a16="http://schemas.microsoft.com/office/drawing/2014/main" id="{489064ED-9BF7-4018-B3C2-E797862A198E}"/>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51">
            <a:extLst xmlns:a="http://schemas.openxmlformats.org/drawingml/2006/main">
              <a:ext uri="{FF2B5EF4-FFF2-40B4-BE49-F238E27FC236}">
                <a16:creationId xmlns:a16="http://schemas.microsoft.com/office/drawing/2014/main" id="{DF0641BA-8BEB-4824-8682-7785AC36AFFD}"/>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10</a:t>
            </a:r>
          </a:p>
        </p:txBody>
      </p:sp>
      <p:sp>
        <p:nvSpPr>
          <p:cNvPr id="6" name="b1_text_252">
            <a:extLst xmlns:a="http://schemas.openxmlformats.org/drawingml/2006/main">
              <a:ext uri="{FF2B5EF4-FFF2-40B4-BE49-F238E27FC236}">
                <a16:creationId xmlns:a16="http://schemas.microsoft.com/office/drawing/2014/main" id="{0686620B-7576-46F3-9AC5-03D2DB9DF103}"/>
              </a:ext>
            </a:extLst>
          </p:cNvPr>
          <p:cNvSpPr>
            <a:spLocks xmlns:a="http://schemas.openxmlformats.org/drawingml/2006/main" noGrp="1"/>
          </p:cNvSpPr>
          <p:nvPr/>
        </p:nvSpPr>
        <p:spPr>
          <a:xfrm xmlns:a="http://schemas.openxmlformats.org/drawingml/2006/main">
            <a:off x="533400" y="1857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BUILD NOW</a:t>
            </a:r>
          </a:p>
        </p:txBody>
      </p:sp>
      <p:sp>
        <p:nvSpPr>
          <p:cNvPr id="7" name="b1_text_253">
            <a:extLst xmlns:a="http://schemas.openxmlformats.org/drawingml/2006/main">
              <a:ext uri="{FF2B5EF4-FFF2-40B4-BE49-F238E27FC236}">
                <a16:creationId xmlns:a16="http://schemas.microsoft.com/office/drawing/2014/main" id="{F53EE4D6-A968-491E-BB8B-EE3EFF8863F1}"/>
              </a:ext>
            </a:extLst>
          </p:cNvPr>
          <p:cNvSpPr>
            <a:spLocks xmlns:a="http://schemas.openxmlformats.org/drawingml/2006/main" noGrp="1"/>
          </p:cNvSpPr>
          <p:nvPr/>
        </p:nvSpPr>
        <p:spPr>
          <a:xfrm xmlns:a="http://schemas.openxmlformats.org/drawingml/2006/main">
            <a:off x="533400" y="22383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Scanners / CI hooks / repository APIs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Containers / compilers / tests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Structured evidence reports</a:t>
            </a:r>
          </a:p>
        </p:txBody>
      </p:sp>
      <p:sp>
        <p:nvSpPr>
          <p:cNvPr id="8" name="b2_text_254">
            <a:extLst xmlns:a="http://schemas.openxmlformats.org/drawingml/2006/main">
              <a:ext uri="{FF2B5EF4-FFF2-40B4-BE49-F238E27FC236}">
                <a16:creationId xmlns:a16="http://schemas.microsoft.com/office/drawing/2014/main" id="{80E3E352-ECAA-462F-9C4D-0087E395DB4D}"/>
              </a:ext>
            </a:extLst>
          </p:cNvPr>
          <p:cNvSpPr>
            <a:spLocks xmlns:a="http://schemas.openxmlformats.org/drawingml/2006/main" noGrp="1"/>
          </p:cNvSpPr>
          <p:nvPr/>
        </p:nvSpPr>
        <p:spPr>
          <a:xfrm xmlns:a="http://schemas.openxmlformats.org/drawingml/2006/main">
            <a:off x="4362450" y="1857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R&amp;D REQUIRED</a:t>
            </a:r>
          </a:p>
        </p:txBody>
      </p:sp>
      <p:sp>
        <p:nvSpPr>
          <p:cNvPr id="9" name="b2_text_255">
            <a:extLst xmlns:a="http://schemas.openxmlformats.org/drawingml/2006/main">
              <a:ext uri="{FF2B5EF4-FFF2-40B4-BE49-F238E27FC236}">
                <a16:creationId xmlns:a16="http://schemas.microsoft.com/office/drawing/2014/main" id="{B3E6CEF0-BC43-4978-BB95-52DCC4E97B55}"/>
              </a:ext>
            </a:extLst>
          </p:cNvPr>
          <p:cNvSpPr>
            <a:spLocks xmlns:a="http://schemas.openxmlformats.org/drawingml/2006/main" noGrp="1"/>
          </p:cNvSpPr>
          <p:nvPr/>
        </p:nvSpPr>
        <p:spPr>
          <a:xfrm xmlns:a="http://schemas.openxmlformats.org/drawingml/2006/main">
            <a:off x="4362450" y="22383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Context quality / memory safety</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Model choice / fine-tuning / graphs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Secure access / gate orchestration</a:t>
            </a:r>
          </a:p>
        </p:txBody>
      </p:sp>
      <p:sp>
        <p:nvSpPr>
          <p:cNvPr id="10" name="b3_text_256">
            <a:extLst xmlns:a="http://schemas.openxmlformats.org/drawingml/2006/main">
              <a:ext uri="{FF2B5EF4-FFF2-40B4-BE49-F238E27FC236}">
                <a16:creationId xmlns:a16="http://schemas.microsoft.com/office/drawing/2014/main" id="{0E00F299-FB08-4904-B15B-32335420CE07}"/>
              </a:ext>
            </a:extLst>
          </p:cNvPr>
          <p:cNvSpPr>
            <a:spLocks xmlns:a="http://schemas.openxmlformats.org/drawingml/2006/main" noGrp="1"/>
          </p:cNvSpPr>
          <p:nvPr/>
        </p:nvSpPr>
        <p:spPr>
          <a:xfrm xmlns:a="http://schemas.openxmlformats.org/drawingml/2006/main">
            <a:off x="8201025" y="185737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SCALE LATER</a:t>
            </a:r>
          </a:p>
        </p:txBody>
      </p:sp>
      <p:sp>
        <p:nvSpPr>
          <p:cNvPr id="11" name="b3_text_257">
            <a:extLst xmlns:a="http://schemas.openxmlformats.org/drawingml/2006/main">
              <a:ext uri="{FF2B5EF4-FFF2-40B4-BE49-F238E27FC236}">
                <a16:creationId xmlns:a16="http://schemas.microsoft.com/office/drawing/2014/main" id="{C58BBE7B-9465-4794-8A4B-63F7A1F946F2}"/>
              </a:ext>
            </a:extLst>
          </p:cNvPr>
          <p:cNvSpPr>
            <a:spLocks xmlns:a="http://schemas.openxmlformats.org/drawingml/2006/main" noGrp="1"/>
          </p:cNvSpPr>
          <p:nvPr/>
        </p:nvSpPr>
        <p:spPr>
          <a:xfrm xmlns:a="http://schemas.openxmlformats.org/drawingml/2006/main">
            <a:off x="8201025" y="2238375"/>
            <a:ext cx="3457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Single repository → team workspace</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Multi-repository memory</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Private enterprise runtime</a:t>
            </a:r>
          </a:p>
        </p:txBody>
      </p:sp>
      <p:sp>
        <p:nvSpPr>
          <p:cNvPr id="12" name="b4_text_258">
            <a:extLst xmlns:a="http://schemas.openxmlformats.org/drawingml/2006/main">
              <a:ext uri="{FF2B5EF4-FFF2-40B4-BE49-F238E27FC236}">
                <a16:creationId xmlns:a16="http://schemas.microsoft.com/office/drawing/2014/main" id="{201164EB-DFC5-4D10-9FEA-72552885BC89}"/>
              </a:ext>
            </a:extLst>
          </p:cNvPr>
          <p:cNvSpPr>
            <a:spLocks xmlns:a="http://schemas.openxmlformats.org/drawingml/2006/main" noGrp="1"/>
          </p:cNvSpPr>
          <p:nvPr/>
        </p:nvSpPr>
        <p:spPr>
          <a:xfrm xmlns:a="http://schemas.openxmlformats.org/drawingml/2006/main">
            <a:off x="533400" y="33718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RISKS / PROPOSED MITIGATIONS</a:t>
            </a:r>
          </a:p>
        </p:txBody>
      </p:sp>
      <p:graphicFrame>
        <p:nvGraphicFramePr>
          <p:cNvPr id="28" name="b4_table_row_0"/>
          <p:cNvGraphicFramePr/>
          <p:nvPr/>
        </p:nvGraphicFramePr>
        <p:xfrm>
          <a:off xmlns:a="http://schemas.openxmlformats.org/drawingml/2006/main" x="533400" y="3733800"/>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1">
                          <a:solidFill>
                            <a:srgbClr val="F5F8FC"/>
                          </a:solidFill>
                          <a:latin typeface="Arial"/>
                          <a:ea typeface="Arial"/>
                          <a:cs typeface="Arial"/>
                        </a:rPr>
                        <a:t>Risk</a:t>
                      </a:r>
                    </a:p>
                  </a:txBody>
                  <a:tcPr marL="91440" marR="91440" marT="45720" marB="45720">
                    <a:solidFill>
                      <a:srgbClr val="111E2C"/>
                    </a:solidFill>
                  </a:tcPr>
                </a:tc>
                <a:tc>
                  <a:txBody>
                    <a:bodyPr>
                      <a:noAutofit/>
                    </a:bodyPr>
                    <a:lstStyle/>
                    <a:p>
                      <a:pPr algn="ctr"/>
                      <a:r>
                        <a:rPr sz="1275" b="1">
                          <a:solidFill>
                            <a:srgbClr val="F5F8FC"/>
                          </a:solidFill>
                          <a:latin typeface="Arial"/>
                          <a:ea typeface="Arial"/>
                          <a:cs typeface="Arial"/>
                        </a:rPr>
                        <a:t>Potential impact</a:t>
                      </a:r>
                    </a:p>
                  </a:txBody>
                  <a:tcPr marL="91440" marR="91440" marT="45720" marB="45720">
                    <a:solidFill>
                      <a:srgbClr val="111E2C"/>
                    </a:solidFill>
                  </a:tcPr>
                </a:tc>
                <a:tc>
                  <a:txBody>
                    <a:bodyPr>
                      <a:noAutofit/>
                    </a:bodyPr>
                    <a:lstStyle/>
                    <a:p>
                      <a:pPr algn="ctr"/>
                      <a:r>
                        <a:rPr sz="1275" b="1">
                          <a:solidFill>
                            <a:srgbClr val="52D5F2"/>
                          </a:solidFill>
                          <a:latin typeface="Arial"/>
                          <a:ea typeface="Arial"/>
                          <a:cs typeface="Arial"/>
                        </a:rPr>
                        <a:t>Proposed mitigation</a:t>
                      </a:r>
                    </a:p>
                  </a:txBody>
                  <a:tcPr marL="91440" marR="91440" marT="45720" marB="45720">
                    <a:solidFill>
                      <a:srgbClr val="111E2C"/>
                    </a:solidFill>
                  </a:tcPr>
                </a:tc>
              </a:tr>
            </a:tbl>
          </a:graphicData>
        </a:graphic>
      </p:graphicFrame>
      <p:graphicFrame>
        <p:nvGraphicFramePr>
          <p:cNvPr id="29" name="b4_table_row_1"/>
          <p:cNvGraphicFramePr/>
          <p:nvPr/>
        </p:nvGraphicFramePr>
        <p:xfrm>
          <a:off xmlns:a="http://schemas.openxmlformats.org/drawingml/2006/main" x="533400" y="4034518"/>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False positives</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Wasted review time</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Correlate signals + human triage</a:t>
                      </a:r>
                    </a:p>
                  </a:txBody>
                  <a:tcPr marL="91440" marR="91440" marT="45720" marB="45720">
                    <a:solidFill>
                      <a:srgbClr val="0B111A"/>
                    </a:solidFill>
                  </a:tcPr>
                </a:tc>
              </a:tr>
            </a:tbl>
          </a:graphicData>
        </a:graphic>
      </p:graphicFrame>
      <p:graphicFrame>
        <p:nvGraphicFramePr>
          <p:cNvPr id="30" name="b4_table_row_2"/>
          <p:cNvGraphicFramePr/>
          <p:nvPr/>
        </p:nvGraphicFramePr>
        <p:xfrm>
          <a:off xmlns:a="http://schemas.openxmlformats.org/drawingml/2006/main" x="533400" y="4335236"/>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Incorrect model patch</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Unsafe or broken change</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Compiler + tests + security gates</a:t>
                      </a:r>
                    </a:p>
                  </a:txBody>
                  <a:tcPr marL="91440" marR="91440" marT="45720" marB="45720">
                    <a:solidFill>
                      <a:srgbClr val="0B111A"/>
                    </a:solidFill>
                  </a:tcPr>
                </a:tc>
              </a:tr>
            </a:tbl>
          </a:graphicData>
        </a:graphic>
      </p:graphicFrame>
      <p:graphicFrame>
        <p:nvGraphicFramePr>
          <p:cNvPr id="31" name="b4_table_row_3"/>
          <p:cNvGraphicFramePr/>
          <p:nvPr/>
        </p:nvGraphicFramePr>
        <p:xfrm>
          <a:off xmlns:a="http://schemas.openxmlformats.org/drawingml/2006/main" x="533400" y="4635954"/>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Memory poisoning</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Incorrect future context</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Verified-write policy + provenance</a:t>
                      </a:r>
                    </a:p>
                  </a:txBody>
                  <a:tcPr marL="91440" marR="91440" marT="45720" marB="45720">
                    <a:solidFill>
                      <a:srgbClr val="0B111A"/>
                    </a:solidFill>
                  </a:tcPr>
                </a:tc>
              </a:tr>
            </a:tbl>
          </a:graphicData>
        </a:graphic>
      </p:graphicFrame>
      <p:graphicFrame>
        <p:nvGraphicFramePr>
          <p:cNvPr id="32" name="b4_table_row_4"/>
          <p:cNvGraphicFramePr/>
          <p:nvPr/>
        </p:nvGraphicFramePr>
        <p:xfrm>
          <a:off xmlns:a="http://schemas.openxmlformats.org/drawingml/2006/main" x="533400" y="4936672"/>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Sensitive code exposure</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Loss of confidentiality</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Private/local design + scoped access</a:t>
                      </a:r>
                    </a:p>
                  </a:txBody>
                  <a:tcPr marL="91440" marR="91440" marT="45720" marB="45720">
                    <a:solidFill>
                      <a:srgbClr val="0B111A"/>
                    </a:solidFill>
                  </a:tcPr>
                </a:tc>
              </a:tr>
            </a:tbl>
          </a:graphicData>
        </a:graphic>
      </p:graphicFrame>
      <p:graphicFrame>
        <p:nvGraphicFramePr>
          <p:cNvPr id="33" name="b4_table_row_5"/>
          <p:cNvGraphicFramePr/>
          <p:nvPr/>
        </p:nvGraphicFramePr>
        <p:xfrm>
          <a:off xmlns:a="http://schemas.openxmlformats.org/drawingml/2006/main" x="533400" y="5237390"/>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Over-automation</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Unsafe autonomous decisions</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Human approval for high-risk actions</a:t>
                      </a:r>
                    </a:p>
                  </a:txBody>
                  <a:tcPr marL="91440" marR="91440" marT="45720" marB="45720">
                    <a:solidFill>
                      <a:srgbClr val="0B111A"/>
                    </a:solidFill>
                  </a:tcPr>
                </a:tc>
              </a:tr>
            </a:tbl>
          </a:graphicData>
        </a:graphic>
      </p:graphicFrame>
      <p:graphicFrame>
        <p:nvGraphicFramePr>
          <p:cNvPr id="34" name="b4_table_row_6"/>
          <p:cNvGraphicFramePr/>
          <p:nvPr/>
        </p:nvGraphicFramePr>
        <p:xfrm>
          <a:off xmlns:a="http://schemas.openxmlformats.org/drawingml/2006/main" x="533400" y="5538108"/>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Compute cost</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Poor unit economics</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Selective models + bounded workflows</a:t>
                      </a:r>
                    </a:p>
                  </a:txBody>
                  <a:tcPr marL="91440" marR="91440" marT="45720" marB="45720">
                    <a:solidFill>
                      <a:srgbClr val="0B111A"/>
                    </a:solidFill>
                  </a:tcPr>
                </a:tc>
              </a:tr>
            </a:tbl>
          </a:graphicData>
        </a:graphic>
      </p:graphicFrame>
      <p:sp>
        <p:nvSpPr>
          <p:cNvPr id="14" name="b4_text_259">
            <a:extLst xmlns:a="http://schemas.openxmlformats.org/drawingml/2006/main">
              <a:ext uri="{FF2B5EF4-FFF2-40B4-BE49-F238E27FC236}">
                <a16:creationId xmlns:a16="http://schemas.microsoft.com/office/drawing/2014/main" id="{BB0A99B5-085E-4C22-81F5-F4B4D1FEE944}"/>
              </a:ext>
            </a:extLst>
          </p:cNvPr>
          <p:cNvSpPr>
            <a:spLocks xmlns:a="http://schemas.openxmlformats.org/drawingml/2006/main" noGrp="1"/>
          </p:cNvSpPr>
          <p:nvPr/>
        </p:nvSpPr>
        <p:spPr>
          <a:xfrm xmlns:a="http://schemas.openxmlformats.org/drawingml/2006/main">
            <a:off x="533400" y="59817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Automate only what can remain verifiable</a:t>
            </a:r>
          </a:p>
        </p:txBody>
      </p:sp>
    </p:spTree>
    <p:extLst>
      <p:ext uri="{BB962C8B-B14F-4D97-AF65-F5344CB8AC3E}">
        <p14:creationId xmlns:p14="http://schemas.microsoft.com/office/powerpoint/2010/main" val="1243115705"/>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300"/>
                                        <p:tgtEl>
                                          <p:spTgt spid="28"/>
                                        </p:tgtEl>
                                      </p:cBhvr>
                                    </p:animEffect>
                                  </p:childTnLst>
                                </p:cTn>
                              </p:par>
                              <p:par>
                                <p:cTn id="35" presetID="10" presetClass="entr" presetSubtype="0" fill="hold" grpId="0" nodeType="withEffect">
                                  <p:stCondLst>
                                    <p:cond delay="16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300"/>
                                        <p:tgtEl>
                                          <p:spTgt spid="29"/>
                                        </p:tgtEl>
                                      </p:cBhvr>
                                    </p:animEffect>
                                  </p:childTnLst>
                                </p:cTn>
                              </p:par>
                              <p:par>
                                <p:cTn id="38" presetID="10" presetClass="entr" presetSubtype="0" fill="hold" grpId="0" nodeType="withEffect">
                                  <p:stCondLst>
                                    <p:cond delay="32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300"/>
                                        <p:tgtEl>
                                          <p:spTgt spid="30"/>
                                        </p:tgtEl>
                                      </p:cBhvr>
                                    </p:animEffect>
                                  </p:childTnLst>
                                </p:cTn>
                              </p:par>
                              <p:par>
                                <p:cTn id="41" presetID="10" presetClass="entr" presetSubtype="0" fill="hold" grpId="0" nodeType="withEffect">
                                  <p:stCondLst>
                                    <p:cond delay="48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300"/>
                                        <p:tgtEl>
                                          <p:spTgt spid="31"/>
                                        </p:tgtEl>
                                      </p:cBhvr>
                                    </p:animEffect>
                                  </p:childTnLst>
                                </p:cTn>
                              </p:par>
                              <p:par>
                                <p:cTn id="44" presetID="10" presetClass="entr" presetSubtype="0" fill="hold" grpId="0" nodeType="withEffect">
                                  <p:stCondLst>
                                    <p:cond delay="64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300"/>
                                        <p:tgtEl>
                                          <p:spTgt spid="32"/>
                                        </p:tgtEl>
                                      </p:cBhvr>
                                    </p:animEffect>
                                  </p:childTnLst>
                                </p:cTn>
                              </p:par>
                              <p:par>
                                <p:cTn id="47" presetID="10" presetClass="entr" presetSubtype="0" fill="hold" grpId="0" nodeType="withEffect">
                                  <p:stCondLst>
                                    <p:cond delay="80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00"/>
                                        <p:tgtEl>
                                          <p:spTgt spid="33"/>
                                        </p:tgtEl>
                                      </p:cBhvr>
                                    </p:animEffect>
                                  </p:childTnLst>
                                </p:cTn>
                              </p:par>
                              <p:par>
                                <p:cTn id="50" presetID="10" presetClass="entr" presetSubtype="0" fill="hold" grpId="0" nodeType="withEffect">
                                  <p:stCondLst>
                                    <p:cond delay="96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3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3" name="b0_text_260">
            <a:extLst xmlns:a="http://schemas.openxmlformats.org/drawingml/2006/main">
              <a:ext uri="{FF2B5EF4-FFF2-40B4-BE49-F238E27FC236}">
                <a16:creationId xmlns:a16="http://schemas.microsoft.com/office/drawing/2014/main" id="{1C699CD7-861C-4390-8D0E-CB2C20EB09B6}"/>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11  /  COMPETITIVE ADVANTAGE</a:t>
            </a:r>
          </a:p>
        </p:txBody>
      </p:sp>
      <p:sp>
        <p:nvSpPr>
          <p:cNvPr id="2" name="b0_headline_261">
            <a:extLst xmlns:a="http://schemas.openxmlformats.org/drawingml/2006/main">
              <a:ext uri="{FF2B5EF4-FFF2-40B4-BE49-F238E27FC236}">
                <a16:creationId xmlns:a16="http://schemas.microsoft.com/office/drawing/2014/main" id="{E48BEB42-5AF2-460B-B807-8EEE20BC6E68}"/>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Proposed differentiation: private context + verification</a:t>
            </a:r>
          </a:p>
        </p:txBody>
      </p:sp>
      <p:sp>
        <p:nvSpPr>
          <p:cNvPr id="3" name="b0_flow_262">
            <a:extLst xmlns:a="http://schemas.openxmlformats.org/drawingml/2006/main">
              <a:ext uri="{FF2B5EF4-FFF2-40B4-BE49-F238E27FC236}">
                <a16:creationId xmlns:a16="http://schemas.microsoft.com/office/drawing/2014/main" id="{EEA7A0A3-C2F3-40F7-AA11-10BA0E111D3B}"/>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63">
            <a:extLst xmlns:a="http://schemas.openxmlformats.org/drawingml/2006/main">
              <a:ext uri="{FF2B5EF4-FFF2-40B4-BE49-F238E27FC236}">
                <a16:creationId xmlns:a16="http://schemas.microsoft.com/office/drawing/2014/main" id="{85176E0A-F563-4E84-9AF3-774CC5C45662}"/>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64">
            <a:extLst xmlns:a="http://schemas.openxmlformats.org/drawingml/2006/main">
              <a:ext uri="{FF2B5EF4-FFF2-40B4-BE49-F238E27FC236}">
                <a16:creationId xmlns:a16="http://schemas.microsoft.com/office/drawing/2014/main" id="{76A81D72-1031-4583-BA83-0C3F34E2BF4D}"/>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11</a:t>
            </a:r>
          </a:p>
        </p:txBody>
      </p:sp>
      <p:sp>
        <p:nvSpPr>
          <p:cNvPr id="6" name="b0_text_265">
            <a:extLst xmlns:a="http://schemas.openxmlformats.org/drawingml/2006/main">
              <a:ext uri="{FF2B5EF4-FFF2-40B4-BE49-F238E27FC236}">
                <a16:creationId xmlns:a16="http://schemas.microsoft.com/office/drawing/2014/main" id="{5760778E-33AD-4CCF-9EA1-605B233C821F}"/>
              </a:ext>
            </a:extLst>
          </p:cNvPr>
          <p:cNvSpPr>
            <a:spLocks xmlns:a="http://schemas.openxmlformats.org/drawingml/2006/main" noGrp="1"/>
          </p:cNvSpPr>
          <p:nvPr/>
        </p:nvSpPr>
        <p:spPr>
          <a:xfrm xmlns:a="http://schemas.openxmlformats.org/drawingml/2006/main">
            <a:off x="533400" y="1781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DIRECTIONAL POSITIONING / AVANTA COLUMN SHOWS DESIGN INTENT</a:t>
            </a:r>
          </a:p>
        </p:txBody>
      </p:sp>
      <p:graphicFrame>
        <p:nvGraphicFramePr>
          <p:cNvPr id="20" name="b1_table_row_0"/>
          <p:cNvGraphicFramePr/>
          <p:nvPr/>
        </p:nvGraphicFramePr>
        <p:xfrm>
          <a:off xmlns:a="http://schemas.openxmlformats.org/drawingml/2006/main" x="533400" y="21812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1">
                          <a:solidFill>
                            <a:srgbClr val="F5F8FC"/>
                          </a:solidFill>
                          <a:latin typeface="Arial"/>
                          <a:ea typeface="Arial"/>
                          <a:cs typeface="Arial"/>
                        </a:rPr>
                        <a:t>Capability</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Coding</a:t>
                      </a:r>
                    </a:p>
                    <a:p>
                      <a:pPr algn="ctr"/>
                      <a:r>
                        <a:rPr sz="1200" b="1">
                          <a:solidFill>
                            <a:srgbClr val="F5F8FC"/>
                          </a:solidFill>
                          <a:latin typeface="Arial"/>
                          <a:ea typeface="Arial"/>
                          <a:cs typeface="Arial"/>
                        </a:rPr>
                        <a:t>agents</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Security</a:t>
                      </a:r>
                    </a:p>
                    <a:p>
                      <a:pPr algn="ctr"/>
                      <a:r>
                        <a:rPr sz="1200" b="1">
                          <a:solidFill>
                            <a:srgbClr val="F5F8FC"/>
                          </a:solidFill>
                          <a:latin typeface="Arial"/>
                          <a:ea typeface="Arial"/>
                          <a:cs typeface="Arial"/>
                        </a:rPr>
                        <a:t>tools</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CI/CD</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Observability</a:t>
                      </a:r>
                    </a:p>
                  </a:txBody>
                  <a:tcPr marL="91440" marR="91440" marT="45720" marB="45720">
                    <a:solidFill>
                      <a:srgbClr val="111E2C"/>
                    </a:solidFill>
                  </a:tcPr>
                </a:tc>
                <a:tc>
                  <a:txBody>
                    <a:bodyPr>
                      <a:noAutofit/>
                    </a:bodyPr>
                    <a:lstStyle/>
                    <a:p>
                      <a:pPr algn="ctr"/>
                      <a:r>
                        <a:rPr sz="1200" b="1">
                          <a:solidFill>
                            <a:srgbClr val="52D5F2"/>
                          </a:solidFill>
                          <a:latin typeface="Arial"/>
                          <a:ea typeface="Arial"/>
                          <a:cs typeface="Arial"/>
                        </a:rPr>
                        <a:t>AVANTA</a:t>
                      </a:r>
                    </a:p>
                    <a:p>
                      <a:pPr algn="ctr"/>
                      <a:r>
                        <a:rPr sz="1200" b="1">
                          <a:solidFill>
                            <a:srgbClr val="52D5F2"/>
                          </a:solidFill>
                          <a:latin typeface="Arial"/>
                          <a:ea typeface="Arial"/>
                          <a:cs typeface="Arial"/>
                        </a:rPr>
                        <a:t>proposed</a:t>
                      </a:r>
                    </a:p>
                  </a:txBody>
                  <a:tcPr marL="91440" marR="91440" marT="45720" marB="45720">
                    <a:solidFill>
                      <a:srgbClr val="111E2C"/>
                    </a:solidFill>
                  </a:tcPr>
                </a:tc>
              </a:tr>
            </a:tbl>
          </a:graphicData>
        </a:graphic>
      </p:graphicFrame>
      <p:graphicFrame>
        <p:nvGraphicFramePr>
          <p:cNvPr id="21" name="b1_table_row_1"/>
          <p:cNvGraphicFramePr/>
          <p:nvPr/>
        </p:nvGraphicFramePr>
        <p:xfrm>
          <a:off xmlns:a="http://schemas.openxmlformats.org/drawingml/2006/main" x="533400" y="24669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Generate / suggest fixes</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MEDIUM</a:t>
                      </a:r>
                    </a:p>
                  </a:txBody>
                  <a:tcPr marL="91440" marR="91440" marT="45720" marB="45720">
                    <a:solidFill>
                      <a:srgbClr val="0B111A"/>
                    </a:solidFill>
                  </a:tcPr>
                </a:tc>
              </a:tr>
            </a:tbl>
          </a:graphicData>
        </a:graphic>
      </p:graphicFrame>
      <p:graphicFrame>
        <p:nvGraphicFramePr>
          <p:cNvPr id="22" name="b1_table_row_2"/>
          <p:cNvGraphicFramePr/>
          <p:nvPr/>
        </p:nvGraphicFramePr>
        <p:xfrm>
          <a:off xmlns:a="http://schemas.openxmlformats.org/drawingml/2006/main" x="533400" y="27527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Private repository context</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3" name="b1_table_row_3"/>
          <p:cNvGraphicFramePr/>
          <p:nvPr/>
        </p:nvGraphicFramePr>
        <p:xfrm>
          <a:off xmlns:a="http://schemas.openxmlformats.org/drawingml/2006/main" x="533400" y="30384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Persistent engineering memory</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4" name="b1_table_row_4"/>
          <p:cNvGraphicFramePr/>
          <p:nvPr/>
        </p:nvGraphicFramePr>
        <p:xfrm>
          <a:off xmlns:a="http://schemas.openxmlformats.org/drawingml/2006/main" x="533400" y="33242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Verification workflow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5" name="b1_table_row_5"/>
          <p:cNvGraphicFramePr/>
          <p:nvPr/>
        </p:nvGraphicFramePr>
        <p:xfrm>
          <a:off xmlns:a="http://schemas.openxmlformats.org/drawingml/2006/main" x="533400" y="36099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Human approval</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6" name="b1_table_row_6"/>
          <p:cNvGraphicFramePr/>
          <p:nvPr/>
        </p:nvGraphicFramePr>
        <p:xfrm>
          <a:off xmlns:a="http://schemas.openxmlformats.org/drawingml/2006/main" x="533400" y="38957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Cross-layer evidence</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7" name="b1_table_row_7"/>
          <p:cNvGraphicFramePr/>
          <p:nvPr/>
        </p:nvGraphicFramePr>
        <p:xfrm>
          <a:off xmlns:a="http://schemas.openxmlformats.org/drawingml/2006/main" x="533400" y="41814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Pre-release assurance</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8" name="b1_table_row_8"/>
          <p:cNvGraphicFramePr/>
          <p:nvPr/>
        </p:nvGraphicFramePr>
        <p:xfrm>
          <a:off xmlns:a="http://schemas.openxmlformats.org/drawingml/2006/main" x="533400" y="44672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Auditability</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sp>
        <p:nvSpPr>
          <p:cNvPr id="8" name="b2_text_266">
            <a:extLst xmlns:a="http://schemas.openxmlformats.org/drawingml/2006/main">
              <a:ext uri="{FF2B5EF4-FFF2-40B4-BE49-F238E27FC236}">
                <a16:creationId xmlns:a16="http://schemas.microsoft.com/office/drawing/2014/main" id="{43F54599-B8B3-4B3A-91B6-3F541A0D1C73}"/>
              </a:ext>
            </a:extLst>
          </p:cNvPr>
          <p:cNvSpPr>
            <a:spLocks xmlns:a="http://schemas.openxmlformats.org/drawingml/2006/main" noGrp="1"/>
          </p:cNvSpPr>
          <p:nvPr/>
        </p:nvSpPr>
        <p:spPr>
          <a:xfrm xmlns:a="http://schemas.openxmlformats.org/drawingml/2006/main">
            <a:off x="533400" y="503872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2D5F2"/>
                </a:solidFill>
                <a:latin typeface="Arial"/>
                <a:ea typeface="Arial"/>
                <a:cs typeface="Arial"/>
              </a:defRPr>
            </a:pPr>
            <a:r>
              <a:rPr sz="1875" b="1">
                <a:solidFill>
                  <a:srgbClr val="52D5F2"/>
                </a:solidFill>
                <a:latin typeface="Arial"/>
                <a:ea typeface="Arial"/>
                <a:cs typeface="Arial"/>
              </a:rPr>
              <a:t>PRIVATE CONTEXT  +  EVIDENCE  +  VERIFICATION  +  HUMAN GATE</a:t>
            </a:r>
          </a:p>
        </p:txBody>
      </p:sp>
      <p:sp>
        <p:nvSpPr>
          <p:cNvPr id="9" name="b3_text_267">
            <a:extLst xmlns:a="http://schemas.openxmlformats.org/drawingml/2006/main">
              <a:ext uri="{FF2B5EF4-FFF2-40B4-BE49-F238E27FC236}">
                <a16:creationId xmlns:a16="http://schemas.microsoft.com/office/drawing/2014/main" id="{60DFE312-9AD7-4C71-9201-B964982902DC}"/>
              </a:ext>
            </a:extLst>
          </p:cNvPr>
          <p:cNvSpPr>
            <a:spLocks xmlns:a="http://schemas.openxmlformats.org/drawingml/2006/main" noGrp="1"/>
          </p:cNvSpPr>
          <p:nvPr/>
        </p:nvSpPr>
        <p:spPr>
          <a:xfrm xmlns:a="http://schemas.openxmlformats.org/drawingml/2006/main">
            <a:off x="533400" y="5476875"/>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POTENTIAL FUTURE DEFENSIBILITY</a:t>
            </a:r>
          </a:p>
        </p:txBody>
      </p:sp>
      <p:sp>
        <p:nvSpPr>
          <p:cNvPr id="10" name="b3_text_268">
            <a:extLst xmlns:a="http://schemas.openxmlformats.org/drawingml/2006/main">
              <a:ext uri="{FF2B5EF4-FFF2-40B4-BE49-F238E27FC236}">
                <a16:creationId xmlns:a16="http://schemas.microsoft.com/office/drawing/2014/main" id="{AF2BA2CA-1E4D-451E-AB16-58DB34E3FD67}"/>
              </a:ext>
            </a:extLst>
          </p:cNvPr>
          <p:cNvSpPr>
            <a:spLocks xmlns:a="http://schemas.openxmlformats.org/drawingml/2006/main" noGrp="1"/>
          </p:cNvSpPr>
          <p:nvPr/>
        </p:nvSpPr>
        <p:spPr>
          <a:xfrm xmlns:a="http://schemas.openxmlformats.org/drawingml/2006/main">
            <a:off x="5076825" y="5486400"/>
            <a:ext cx="6581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Orchestration depth, verified memory rules and accumulated engineering context</a:t>
            </a:r>
          </a:p>
        </p:txBody>
      </p:sp>
      <p:sp>
        <p:nvSpPr>
          <p:cNvPr id="11" name="b3_text_269">
            <a:extLst xmlns:a="http://schemas.openxmlformats.org/drawingml/2006/main">
              <a:ext uri="{FF2B5EF4-FFF2-40B4-BE49-F238E27FC236}">
                <a16:creationId xmlns:a16="http://schemas.microsoft.com/office/drawing/2014/main" id="{52B68886-6DA5-44A6-85A9-83D7EB2EF6AE}"/>
              </a:ext>
            </a:extLst>
          </p:cNvPr>
          <p:cNvSpPr>
            <a:spLocks xmlns:a="http://schemas.openxmlformats.org/drawingml/2006/main" noGrp="1"/>
          </p:cNvSpPr>
          <p:nvPr/>
        </p:nvSpPr>
        <p:spPr>
          <a:xfrm xmlns:a="http://schemas.openxmlformats.org/drawingml/2006/main">
            <a:off x="533400" y="5819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Every AI-generated and human change must present evidence</a:t>
            </a:r>
          </a:p>
        </p:txBody>
      </p:sp>
      <p:sp>
        <p:nvSpPr>
          <p:cNvPr id="12" name="b0_text_270">
            <a:extLst xmlns:a="http://schemas.openxmlformats.org/drawingml/2006/main">
              <a:ext uri="{FF2B5EF4-FFF2-40B4-BE49-F238E27FC236}">
                <a16:creationId xmlns:a16="http://schemas.microsoft.com/office/drawing/2014/main" id="{736071B4-0852-4DB7-BFC4-08313F1C12A6}"/>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BDCADA"/>
                </a:solidFill>
                <a:latin typeface="Arial"/>
                <a:ea typeface="Arial"/>
                <a:cs typeface="Arial"/>
              </a:defRPr>
            </a:pPr>
            <a:r>
              <a:rPr sz="938" b="0">
                <a:solidFill>
                  <a:srgbClr val="BDCADA"/>
                </a:solidFill>
                <a:latin typeface="Arial"/>
                <a:ea typeface="Arial"/>
                <a:cs typeface="Arial"/>
              </a:rPr>
              <a:t>Team assessment of solution positioning. Capabilities vary by product. Deeper validation planned. Sources in notes.</a:t>
            </a:r>
          </a:p>
        </p:txBody>
      </p:sp>
    </p:spTree>
    <p:extLst>
      <p:ext uri="{BB962C8B-B14F-4D97-AF65-F5344CB8AC3E}">
        <p14:creationId xmlns:p14="http://schemas.microsoft.com/office/powerpoint/2010/main" val="1002722864"/>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00"/>
                                        <p:tgtEl>
                                          <p:spTgt spid="20"/>
                                        </p:tgtEl>
                                      </p:cBhvr>
                                    </p:animEffect>
                                  </p:childTnLst>
                                </p:cTn>
                              </p:par>
                              <p:par>
                                <p:cTn id="8" presetID="10" presetClass="entr" presetSubtype="0" fill="hold" grpId="0" nodeType="withEffect">
                                  <p:stCondLst>
                                    <p:cond delay="16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300"/>
                                        <p:tgtEl>
                                          <p:spTgt spid="21"/>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00"/>
                                        <p:tgtEl>
                                          <p:spTgt spid="22"/>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300"/>
                                        <p:tgtEl>
                                          <p:spTgt spid="23"/>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300"/>
                                        <p:tgtEl>
                                          <p:spTgt spid="24"/>
                                        </p:tgtEl>
                                      </p:cBhvr>
                                    </p:animEffect>
                                  </p:childTnLst>
                                </p:cTn>
                              </p:par>
                              <p:par>
                                <p:cTn id="20" presetID="10" presetClass="entr" presetSubtype="0" fill="hold" grpId="0" nodeType="withEffect">
                                  <p:stCondLst>
                                    <p:cond delay="8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300"/>
                                        <p:tgtEl>
                                          <p:spTgt spid="25"/>
                                        </p:tgtEl>
                                      </p:cBhvr>
                                    </p:animEffect>
                                  </p:childTnLst>
                                </p:cTn>
                              </p:par>
                              <p:par>
                                <p:cTn id="23" presetID="10" presetClass="entr" presetSubtype="0" fill="hold" grpId="0" nodeType="withEffect">
                                  <p:stCondLst>
                                    <p:cond delay="96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300"/>
                                        <p:tgtEl>
                                          <p:spTgt spid="26"/>
                                        </p:tgtEl>
                                      </p:cBhvr>
                                    </p:animEffect>
                                  </p:childTnLst>
                                </p:cTn>
                              </p:par>
                              <p:par>
                                <p:cTn id="26" presetID="10" presetClass="entr" presetSubtype="0" fill="hold" grpId="0" nodeType="withEffect">
                                  <p:stCondLst>
                                    <p:cond delay="112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300"/>
                                        <p:tgtEl>
                                          <p:spTgt spid="27"/>
                                        </p:tgtEl>
                                      </p:cBhvr>
                                    </p:animEffect>
                                  </p:childTnLst>
                                </p:cTn>
                              </p:par>
                              <p:par>
                                <p:cTn id="29" presetID="10" presetClass="entr" presetSubtype="0" fill="hold" grpId="0" nodeType="withEffect">
                                  <p:stCondLst>
                                    <p:cond delay="128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3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300"/>
                                        <p:tgtEl>
                                          <p:spTgt spid="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300"/>
                                        <p:tgtEl>
                                          <p:spTgt spid="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2" name="b0_text_271">
            <a:extLst xmlns:a="http://schemas.openxmlformats.org/drawingml/2006/main">
              <a:ext uri="{FF2B5EF4-FFF2-40B4-BE49-F238E27FC236}">
                <a16:creationId xmlns:a16="http://schemas.microsoft.com/office/drawing/2014/main" id="{29BE1364-BB9F-4BC0-9120-80F8F87B7765}"/>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12  /  TEAM &amp; VISION</a:t>
            </a:r>
          </a:p>
        </p:txBody>
      </p:sp>
      <p:sp>
        <p:nvSpPr>
          <p:cNvPr id="2" name="b0_headline_272">
            <a:extLst xmlns:a="http://schemas.openxmlformats.org/drawingml/2006/main">
              <a:ext uri="{FF2B5EF4-FFF2-40B4-BE49-F238E27FC236}">
                <a16:creationId xmlns:a16="http://schemas.microsoft.com/office/drawing/2014/main" id="{FADA97C1-A8FA-44B4-8ABD-3D23E94E8878}"/>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Safer software should emerge from every change</a:t>
            </a:r>
          </a:p>
        </p:txBody>
      </p:sp>
      <p:sp>
        <p:nvSpPr>
          <p:cNvPr id="3" name="b0_flow_273">
            <a:extLst xmlns:a="http://schemas.openxmlformats.org/drawingml/2006/main">
              <a:ext uri="{FF2B5EF4-FFF2-40B4-BE49-F238E27FC236}">
                <a16:creationId xmlns:a16="http://schemas.microsoft.com/office/drawing/2014/main" id="{12F65332-5A83-4F37-ABD8-F6A126B347BE}"/>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74">
            <a:extLst xmlns:a="http://schemas.openxmlformats.org/drawingml/2006/main">
              <a:ext uri="{FF2B5EF4-FFF2-40B4-BE49-F238E27FC236}">
                <a16:creationId xmlns:a16="http://schemas.microsoft.com/office/drawing/2014/main" id="{F680737D-89CF-409A-804C-7451784E12AF}"/>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75">
            <a:extLst xmlns:a="http://schemas.openxmlformats.org/drawingml/2006/main">
              <a:ext uri="{FF2B5EF4-FFF2-40B4-BE49-F238E27FC236}">
                <a16:creationId xmlns:a16="http://schemas.microsoft.com/office/drawing/2014/main" id="{75014E80-5A59-47BB-84EB-0059B101A9FA}"/>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12</a:t>
            </a:r>
          </a:p>
        </p:txBody>
      </p:sp>
      <p:sp>
        <p:nvSpPr>
          <p:cNvPr id="6" name="b1_flow_276">
            <a:extLst xmlns:a="http://schemas.openxmlformats.org/drawingml/2006/main">
              <a:ext uri="{FF2B5EF4-FFF2-40B4-BE49-F238E27FC236}">
                <a16:creationId xmlns:a16="http://schemas.microsoft.com/office/drawing/2014/main" id="{189863C1-07E3-40A3-9DE5-3922F9B4A56F}"/>
              </a:ext>
            </a:extLst>
          </p:cNvPr>
          <p:cNvSpPr>
            <a:spLocks xmlns:a="http://schemas.openxmlformats.org/drawingml/2006/main" noGrp="1"/>
          </p:cNvSpPr>
          <p:nvPr/>
        </p:nvSpPr>
        <p:spPr>
          <a:xfrm xmlns:a="http://schemas.openxmlformats.org/drawingml/2006/main">
            <a:off x="533400"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7" name="b1_text_277">
            <a:extLst xmlns:a="http://schemas.openxmlformats.org/drawingml/2006/main">
              <a:ext uri="{FF2B5EF4-FFF2-40B4-BE49-F238E27FC236}">
                <a16:creationId xmlns:a16="http://schemas.microsoft.com/office/drawing/2014/main" id="{D718EEEE-E1C3-4A19-8A1C-2A3B0DB43053}"/>
              </a:ext>
            </a:extLst>
          </p:cNvPr>
          <p:cNvSpPr>
            <a:spLocks xmlns:a="http://schemas.openxmlformats.org/drawingml/2006/main" noGrp="1"/>
          </p:cNvSpPr>
          <p:nvPr/>
        </p:nvSpPr>
        <p:spPr>
          <a:xfrm xmlns:a="http://schemas.openxmlformats.org/drawingml/2006/main">
            <a:off x="533400"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Pranav Kumar Mishra</a:t>
            </a:r>
          </a:p>
        </p:txBody>
      </p:sp>
      <p:sp>
        <p:nvSpPr>
          <p:cNvPr id="8" name="b1_text_278">
            <a:extLst xmlns:a="http://schemas.openxmlformats.org/drawingml/2006/main">
              <a:ext uri="{FF2B5EF4-FFF2-40B4-BE49-F238E27FC236}">
                <a16:creationId xmlns:a16="http://schemas.microsoft.com/office/drawing/2014/main" id="{0856B301-FA81-4DEE-9872-A99A5C537665}"/>
              </a:ext>
            </a:extLst>
          </p:cNvPr>
          <p:cNvSpPr>
            <a:spLocks xmlns:a="http://schemas.openxmlformats.org/drawingml/2006/main" noGrp="1"/>
          </p:cNvSpPr>
          <p:nvPr/>
        </p:nvSpPr>
        <p:spPr>
          <a:xfrm xmlns:a="http://schemas.openxmlformats.org/drawingml/2006/main">
            <a:off x="533400"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PROJECT LEAD</a:t>
            </a:r>
          </a:p>
        </p:txBody>
      </p:sp>
      <p:sp>
        <p:nvSpPr>
          <p:cNvPr id="9" name="b1_text_279">
            <a:extLst xmlns:a="http://schemas.openxmlformats.org/drawingml/2006/main">
              <a:ext uri="{FF2B5EF4-FFF2-40B4-BE49-F238E27FC236}">
                <a16:creationId xmlns:a16="http://schemas.microsoft.com/office/drawing/2014/main" id="{40C7ACDD-65D0-4C1B-8511-FC489D11971C}"/>
              </a:ext>
            </a:extLst>
          </p:cNvPr>
          <p:cNvSpPr>
            <a:spLocks xmlns:a="http://schemas.openxmlformats.org/drawingml/2006/main" noGrp="1"/>
          </p:cNvSpPr>
          <p:nvPr/>
        </p:nvSpPr>
        <p:spPr>
          <a:xfrm xmlns:a="http://schemas.openxmlformats.org/drawingml/2006/main">
            <a:off x="533400"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Architecture / product vision</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Research direction</a:t>
            </a:r>
          </a:p>
        </p:txBody>
      </p:sp>
      <p:sp>
        <p:nvSpPr>
          <p:cNvPr id="10" name="b1_flow_280">
            <a:extLst xmlns:a="http://schemas.openxmlformats.org/drawingml/2006/main">
              <a:ext uri="{FF2B5EF4-FFF2-40B4-BE49-F238E27FC236}">
                <a16:creationId xmlns:a16="http://schemas.microsoft.com/office/drawing/2014/main" id="{4845745B-C766-49B1-9375-A94D29666BF7}"/>
              </a:ext>
            </a:extLst>
          </p:cNvPr>
          <p:cNvSpPr>
            <a:spLocks xmlns:a="http://schemas.openxmlformats.org/drawingml/2006/main" noGrp="1"/>
          </p:cNvSpPr>
          <p:nvPr/>
        </p:nvSpPr>
        <p:spPr>
          <a:xfrm xmlns:a="http://schemas.openxmlformats.org/drawingml/2006/main">
            <a:off x="4314825"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1" name="b1_text_281">
            <a:extLst xmlns:a="http://schemas.openxmlformats.org/drawingml/2006/main">
              <a:ext uri="{FF2B5EF4-FFF2-40B4-BE49-F238E27FC236}">
                <a16:creationId xmlns:a16="http://schemas.microsoft.com/office/drawing/2014/main" id="{2D6C6E7B-9A68-4F28-ADE1-61F9629FE5FD}"/>
              </a:ext>
            </a:extLst>
          </p:cNvPr>
          <p:cNvSpPr>
            <a:spLocks xmlns:a="http://schemas.openxmlformats.org/drawingml/2006/main" noGrp="1"/>
          </p:cNvSpPr>
          <p:nvPr/>
        </p:nvSpPr>
        <p:spPr>
          <a:xfrm xmlns:a="http://schemas.openxmlformats.org/drawingml/2006/main">
            <a:off x="4314825"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Aryan Kashyap</a:t>
            </a:r>
          </a:p>
        </p:txBody>
      </p:sp>
      <p:sp>
        <p:nvSpPr>
          <p:cNvPr id="12" name="b1_text_282">
            <a:extLst xmlns:a="http://schemas.openxmlformats.org/drawingml/2006/main">
              <a:ext uri="{FF2B5EF4-FFF2-40B4-BE49-F238E27FC236}">
                <a16:creationId xmlns:a16="http://schemas.microsoft.com/office/drawing/2014/main" id="{D7865B13-6167-4B61-BB5A-F441323CA2EB}"/>
              </a:ext>
            </a:extLst>
          </p:cNvPr>
          <p:cNvSpPr>
            <a:spLocks xmlns:a="http://schemas.openxmlformats.org/drawingml/2006/main" noGrp="1"/>
          </p:cNvSpPr>
          <p:nvPr/>
        </p:nvSpPr>
        <p:spPr>
          <a:xfrm xmlns:a="http://schemas.openxmlformats.org/drawingml/2006/main">
            <a:off x="4314825"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CO-LEAD</a:t>
            </a:r>
          </a:p>
        </p:txBody>
      </p:sp>
      <p:sp>
        <p:nvSpPr>
          <p:cNvPr id="13" name="b1_text_283">
            <a:extLst xmlns:a="http://schemas.openxmlformats.org/drawingml/2006/main">
              <a:ext uri="{FF2B5EF4-FFF2-40B4-BE49-F238E27FC236}">
                <a16:creationId xmlns:a16="http://schemas.microsoft.com/office/drawing/2014/main" id="{9CB71C9E-B13A-49B1-B71F-6454133B57AF}"/>
              </a:ext>
            </a:extLst>
          </p:cNvPr>
          <p:cNvSpPr>
            <a:spLocks xmlns:a="http://schemas.openxmlformats.org/drawingml/2006/main" noGrp="1"/>
          </p:cNvSpPr>
          <p:nvPr/>
        </p:nvSpPr>
        <p:spPr>
          <a:xfrm xmlns:a="http://schemas.openxmlformats.org/drawingml/2006/main">
            <a:off x="4314825"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Engineering support / prototype</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Testing workflow</a:t>
            </a:r>
          </a:p>
        </p:txBody>
      </p:sp>
      <p:sp>
        <p:nvSpPr>
          <p:cNvPr id="14" name="b1_flow_284">
            <a:extLst xmlns:a="http://schemas.openxmlformats.org/drawingml/2006/main">
              <a:ext uri="{FF2B5EF4-FFF2-40B4-BE49-F238E27FC236}">
                <a16:creationId xmlns:a16="http://schemas.microsoft.com/office/drawing/2014/main" id="{A3428F1C-020B-4A2F-9EF3-1066E511AB4A}"/>
              </a:ext>
            </a:extLst>
          </p:cNvPr>
          <p:cNvSpPr>
            <a:spLocks xmlns:a="http://schemas.openxmlformats.org/drawingml/2006/main" noGrp="1"/>
          </p:cNvSpPr>
          <p:nvPr/>
        </p:nvSpPr>
        <p:spPr>
          <a:xfrm xmlns:a="http://schemas.openxmlformats.org/drawingml/2006/main">
            <a:off x="8096250"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5" name="b1_text_285">
            <a:extLst xmlns:a="http://schemas.openxmlformats.org/drawingml/2006/main">
              <a:ext uri="{FF2B5EF4-FFF2-40B4-BE49-F238E27FC236}">
                <a16:creationId xmlns:a16="http://schemas.microsoft.com/office/drawing/2014/main" id="{69277C38-FE01-4EC2-8C2D-EBE7E94281DE}"/>
              </a:ext>
            </a:extLst>
          </p:cNvPr>
          <p:cNvSpPr>
            <a:spLocks xmlns:a="http://schemas.openxmlformats.org/drawingml/2006/main" noGrp="1"/>
          </p:cNvSpPr>
          <p:nvPr/>
        </p:nvSpPr>
        <p:spPr>
          <a:xfrm xmlns:a="http://schemas.openxmlformats.org/drawingml/2006/main">
            <a:off x="8096250"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Gagan Chaddah</a:t>
            </a:r>
          </a:p>
        </p:txBody>
      </p:sp>
      <p:sp>
        <p:nvSpPr>
          <p:cNvPr id="16" name="b1_text_286">
            <a:extLst xmlns:a="http://schemas.openxmlformats.org/drawingml/2006/main">
              <a:ext uri="{FF2B5EF4-FFF2-40B4-BE49-F238E27FC236}">
                <a16:creationId xmlns:a16="http://schemas.microsoft.com/office/drawing/2014/main" id="{A498E976-9C1F-4F41-8D57-D5C33418B986}"/>
              </a:ext>
            </a:extLst>
          </p:cNvPr>
          <p:cNvSpPr>
            <a:spLocks xmlns:a="http://schemas.openxmlformats.org/drawingml/2006/main" noGrp="1"/>
          </p:cNvSpPr>
          <p:nvPr/>
        </p:nvSpPr>
        <p:spPr>
          <a:xfrm xmlns:a="http://schemas.openxmlformats.org/drawingml/2006/main">
            <a:off x="8096250"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MENTOR</a:t>
            </a:r>
          </a:p>
        </p:txBody>
      </p:sp>
      <p:sp>
        <p:nvSpPr>
          <p:cNvPr id="17" name="b1_text_287">
            <a:extLst xmlns:a="http://schemas.openxmlformats.org/drawingml/2006/main">
              <a:ext uri="{FF2B5EF4-FFF2-40B4-BE49-F238E27FC236}">
                <a16:creationId xmlns:a16="http://schemas.microsoft.com/office/drawing/2014/main" id="{55925388-3E76-4AF7-8FE9-F5D171D1F218}"/>
              </a:ext>
            </a:extLst>
          </p:cNvPr>
          <p:cNvSpPr>
            <a:spLocks xmlns:a="http://schemas.openxmlformats.org/drawingml/2006/main" noGrp="1"/>
          </p:cNvSpPr>
          <p:nvPr/>
        </p:nvSpPr>
        <p:spPr>
          <a:xfrm xmlns:a="http://schemas.openxmlformats.org/drawingml/2006/main">
            <a:off x="8096250"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Guidance / validation</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Presentation review</a:t>
            </a:r>
          </a:p>
        </p:txBody>
      </p:sp>
      <p:sp>
        <p:nvSpPr>
          <p:cNvPr id="18" name="b2_text_288">
            <a:extLst xmlns:a="http://schemas.openxmlformats.org/drawingml/2006/main">
              <a:ext uri="{FF2B5EF4-FFF2-40B4-BE49-F238E27FC236}">
                <a16:creationId xmlns:a16="http://schemas.microsoft.com/office/drawing/2014/main" id="{3AFA7662-C69F-4A79-BDF8-8244F2231DFB}"/>
              </a:ext>
            </a:extLst>
          </p:cNvPr>
          <p:cNvSpPr>
            <a:spLocks xmlns:a="http://schemas.openxmlformats.org/drawingml/2006/main" noGrp="1"/>
          </p:cNvSpPr>
          <p:nvPr/>
        </p:nvSpPr>
        <p:spPr>
          <a:xfrm xmlns:a="http://schemas.openxmlformats.org/drawingml/2006/main">
            <a:off x="533400" y="42481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STUDENT-LED / RESEARCH-DRIVEN / APS JRC</a:t>
            </a:r>
          </a:p>
        </p:txBody>
      </p:sp>
      <p:sp>
        <p:nvSpPr>
          <p:cNvPr id="19" name="b2_text_289">
            <a:extLst xmlns:a="http://schemas.openxmlformats.org/drawingml/2006/main">
              <a:ext uri="{FF2B5EF4-FFF2-40B4-BE49-F238E27FC236}">
                <a16:creationId xmlns:a16="http://schemas.microsoft.com/office/drawing/2014/main" id="{2AD6E038-6E07-43B7-A48D-9B25E50063F2}"/>
              </a:ext>
            </a:extLst>
          </p:cNvPr>
          <p:cNvSpPr>
            <a:spLocks xmlns:a="http://schemas.openxmlformats.org/drawingml/2006/main" noGrp="1"/>
          </p:cNvSpPr>
          <p:nvPr/>
        </p:nvSpPr>
        <p:spPr>
          <a:xfrm xmlns:a="http://schemas.openxmlformats.org/drawingml/2006/main">
            <a:off x="533400" y="461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BDCADA"/>
                </a:solidFill>
                <a:latin typeface="Arial"/>
                <a:ea typeface="Arial"/>
                <a:cs typeface="Arial"/>
              </a:defRPr>
            </a:pPr>
            <a:r>
              <a:rPr sz="1875" b="0">
                <a:solidFill>
                  <a:srgbClr val="BDCADA"/>
                </a:solidFill>
                <a:latin typeface="Arial"/>
                <a:ea typeface="Arial"/>
                <a:cs typeface="Arial"/>
              </a:rPr>
              <a:t>We are researching and building the foundations of software that stays secure, understandable, maintainable and verifiable as code, teams and threats evolve.</a:t>
            </a:r>
          </a:p>
        </p:txBody>
      </p:sp>
      <p:sp>
        <p:nvSpPr>
          <p:cNvPr id="20" name="b3_text_290">
            <a:extLst xmlns:a="http://schemas.openxmlformats.org/drawingml/2006/main">
              <a:ext uri="{FF2B5EF4-FFF2-40B4-BE49-F238E27FC236}">
                <a16:creationId xmlns:a16="http://schemas.microsoft.com/office/drawing/2014/main" id="{97B84ACE-E837-4BD5-A137-C009B5548DA4}"/>
              </a:ext>
            </a:extLst>
          </p:cNvPr>
          <p:cNvSpPr>
            <a:spLocks xmlns:a="http://schemas.openxmlformats.org/drawingml/2006/main" noGrp="1"/>
          </p:cNvSpPr>
          <p:nvPr/>
        </p:nvSpPr>
        <p:spPr>
          <a:xfrm xmlns:a="http://schemas.openxmlformats.org/drawingml/2006/main">
            <a:off x="533400" y="53911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750" b="1">
                <a:solidFill>
                  <a:srgbClr val="52D5F2"/>
                </a:solidFill>
                <a:latin typeface="Arial"/>
                <a:ea typeface="Arial"/>
                <a:cs typeface="Arial"/>
              </a:defRPr>
            </a:pPr>
            <a:r>
              <a:rPr sz="3750" b="1">
                <a:solidFill>
                  <a:srgbClr val="52D5F2"/>
                </a:solidFill>
                <a:latin typeface="Arial"/>
                <a:ea typeface="Arial"/>
                <a:cs typeface="Arial"/>
              </a:rPr>
              <a:t>TRUST EVERY CHANGE.</a:t>
            </a:r>
          </a:p>
        </p:txBody>
      </p:sp>
      <p:sp>
        <p:nvSpPr>
          <p:cNvPr id="21" name="b3_text_291">
            <a:extLst xmlns:a="http://schemas.openxmlformats.org/drawingml/2006/main">
              <a:ext uri="{FF2B5EF4-FFF2-40B4-BE49-F238E27FC236}">
                <a16:creationId xmlns:a16="http://schemas.microsoft.com/office/drawing/2014/main" id="{DBE79630-F9B8-4B9E-A080-8906D0995D55}"/>
              </a:ext>
            </a:extLst>
          </p:cNvPr>
          <p:cNvSpPr>
            <a:spLocks xmlns:a="http://schemas.openxmlformats.org/drawingml/2006/main" noGrp="1"/>
          </p:cNvSpPr>
          <p:nvPr/>
        </p:nvSpPr>
        <p:spPr>
          <a:xfrm xmlns:a="http://schemas.openxmlformats.org/drawingml/2006/main">
            <a:off x="533400" y="606742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BDCADA"/>
                </a:solidFill>
                <a:latin typeface="Arial"/>
                <a:ea typeface="Arial"/>
                <a:cs typeface="Arial"/>
              </a:defRPr>
            </a:pPr>
            <a:r>
              <a:rPr sz="1350" b="0">
                <a:solidFill>
                  <a:srgbClr val="BDCADA"/>
                </a:solidFill>
                <a:latin typeface="Arial"/>
                <a:ea typeface="Arial"/>
                <a:cs typeface="Arial"/>
              </a:rPr>
              <a:t>Seeking technical mentors, validation feedback and safe repositories. Design partners after MVP validation.</a:t>
            </a:r>
          </a:p>
        </p:txBody>
      </p:sp>
    </p:spTree>
    <p:extLst>
      <p:ext uri="{BB962C8B-B14F-4D97-AF65-F5344CB8AC3E}">
        <p14:creationId xmlns:p14="http://schemas.microsoft.com/office/powerpoint/2010/main" val="1676747299"/>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35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2026-09-05T03:30:23.7140000Z</dcterms:created>
  <dcterms:modified xsi:type="dcterms:W3CDTF">2026-09-05T03:30:23.7140000Z</dcterms:modified>
</coreProperties>
</file>